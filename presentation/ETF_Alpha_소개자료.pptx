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554480"/>
            <a:ext cx="502920" cy="502920"/>
          </a:xfrm>
          <a:prstGeom prst="round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78992" y="1554480"/>
            <a:ext cx="502920" cy="502920"/>
          </a:xfrm>
          <a:prstGeom prst="roundRect">
            <a:avLst/>
          </a:prstGeom>
          <a:solidFill>
            <a:srgbClr val="2AD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6000" b="1" i="0">
                <a:solidFill>
                  <a:srgbClr val="EEF4FF"/>
                </a:solidFill>
                <a:latin typeface="Malgun Gothic"/>
                <a:ea typeface="Malgun Gothic"/>
              </a:rPr>
              <a:t>ETF </a:t>
            </a:r>
            <a:r>
              <a:rPr sz="6000" b="1" i="0">
                <a:solidFill>
                  <a:srgbClr val="2AD0E6"/>
                </a:solidFill>
                <a:latin typeface="Malgun Gothic"/>
                <a:ea typeface="Malgun Gothic"/>
              </a:rPr>
              <a:t>Alpha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4290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EEF4FF"/>
                </a:solidFill>
                <a:latin typeface="Malgun Gothic"/>
                <a:ea typeface="Malgun Gothic"/>
              </a:rPr>
              <a:t>매일 아침, AI가 추천하는 한국 상장 ETF 포트폴리오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420624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 i="0">
                <a:solidFill>
                  <a:srgbClr val="93A2BD"/>
                </a:solidFill>
                <a:latin typeface="Malgun Gothic"/>
                <a:ea typeface="Malgun Gothic"/>
              </a:rPr>
              <a:t>NAV 변화·수급·뉴스를 </a:t>
            </a:r>
            <a:r>
              <a:rPr sz="1600" b="1" i="0">
                <a:solidFill>
                  <a:srgbClr val="9B7BFF"/>
                </a:solidFill>
                <a:latin typeface="Malgun Gothic"/>
                <a:ea typeface="Malgun Gothic"/>
              </a:rPr>
              <a:t>QWEN</a:t>
            </a:r>
            <a:r>
              <a:rPr sz="1600" b="0" i="0">
                <a:solidFill>
                  <a:srgbClr val="93A2BD"/>
                </a:solidFill>
                <a:latin typeface="Malgun Gothic"/>
                <a:ea typeface="Malgun Gothic"/>
              </a:rPr>
              <a:t>·</a:t>
            </a:r>
            <a:r>
              <a:rPr sz="1600" b="1" i="0">
                <a:solidFill>
                  <a:srgbClr val="5B8CFF"/>
                </a:solidFill>
                <a:latin typeface="Malgun Gothic"/>
                <a:ea typeface="Malgun Gothic"/>
              </a:rPr>
              <a:t>Gemini</a:t>
            </a:r>
            <a:r>
              <a:rPr sz="1600" b="0" i="0">
                <a:solidFill>
                  <a:srgbClr val="93A2BD"/>
                </a:solidFill>
                <a:latin typeface="Malgun Gothic"/>
                <a:ea typeface="Malgun Gothic"/>
              </a:rPr>
              <a:t>가 분석해 ETF와 비중까지 제시하는 구독형 SaaS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5029200"/>
            <a:ext cx="2468880" cy="384048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2AD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5029200"/>
            <a:ext cx="24688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2AD0E6"/>
                </a:solidFill>
                <a:latin typeface="Malgun Gothic"/>
                <a:ea typeface="Malgun Gothic"/>
              </a:rPr>
              <a:t>🛡️ Look-ahead Bias 차단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5029200"/>
            <a:ext cx="2286000" cy="384048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28D3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56432" y="5029200"/>
            <a:ext cx="2286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28D397"/>
                </a:solidFill>
                <a:latin typeface="Malgun Gothic"/>
                <a:ea typeface="Malgun Gothic"/>
              </a:rPr>
              <a:t>📊 KIS 공식 데이터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88736" y="5029200"/>
            <a:ext cx="2194560" cy="384048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9B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88736" y="5029200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9B7BFF"/>
                </a:solidFill>
                <a:latin typeface="Malgun Gothic"/>
                <a:ea typeface="Malgun Gothic"/>
              </a:rPr>
              <a:t>🤖 듀얼 AI 엔진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59436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93A2BD"/>
                </a:solidFill>
                <a:latin typeface="Malgun Gothic"/>
                <a:ea typeface="Malgun Gothic"/>
              </a:rPr>
              <a:t>제품 소개 자료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0" cy="82296"/>
          </a:xfrm>
          <a:prstGeom prst="rect">
            <a:avLst/>
          </a:prstGeom>
          <a:solidFill>
            <a:srgbClr val="2AD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2AD0E6"/>
                </a:solidFill>
                <a:latin typeface="Malgun Gothic"/>
                <a:ea typeface="Malgun Gothic"/>
              </a:rPr>
              <a:t>ETF ALPHA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200" b="1" i="0">
                <a:solidFill>
                  <a:srgbClr val="EEF4FF"/>
                </a:solidFill>
                <a:latin typeface="Malgun Gothic"/>
                <a:ea typeface="Malgun Gothic"/>
              </a:rPr>
              <a:t>개인 투자자는 'ETF 선택'에서 막힌다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48132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93A2BD"/>
                </a:solidFill>
                <a:latin typeface="Malgun Gothic"/>
                <a:ea typeface="Malgun Gothic"/>
              </a:rPr>
              <a:t>국내 상장 ETF는 900개가 넘는다. 무엇을, 언제, 얼마나 담을지가 진짜 문제다.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2670048" cy="3017520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3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377440"/>
            <a:ext cx="22677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 i="0">
                <a:solidFill>
                  <a:srgbClr val="EEF4FF"/>
                </a:solidFill>
                <a:latin typeface="Malgun Gothic"/>
                <a:ea typeface="Malgun Gothic"/>
              </a:rPr>
              <a:t>선택지 과부하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880360"/>
            <a:ext cx="226771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600" b="1" i="0">
                <a:solidFill>
                  <a:srgbClr val="F1B340"/>
                </a:solidFill>
                <a:latin typeface="Malgun Gothic"/>
                <a:ea typeface="Malgun Gothic"/>
              </a:rPr>
              <a:t>900+ 종목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611880"/>
            <a:ext cx="226771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0" i="0">
                <a:solidFill>
                  <a:srgbClr val="93A2BD"/>
                </a:solidFill>
                <a:latin typeface="Malgun Gothic"/>
                <a:ea typeface="Malgun Gothic"/>
              </a:rPr>
              <a:t>비슷한 이름의 ETF가 너무 많아
무엇이 다른지 구분이 어렵다.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148840"/>
            <a:ext cx="2670048" cy="3017520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3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2377440"/>
            <a:ext cx="22677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 i="0">
                <a:solidFill>
                  <a:srgbClr val="EEF4FF"/>
                </a:solidFill>
                <a:latin typeface="Malgun Gothic"/>
                <a:ea typeface="Malgun Gothic"/>
              </a:rPr>
              <a:t>타이밍 부재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880360"/>
            <a:ext cx="226771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600" b="1" i="0">
                <a:solidFill>
                  <a:srgbClr val="F1B340"/>
                </a:solidFill>
                <a:latin typeface="Malgun Gothic"/>
                <a:ea typeface="Malgun Gothic"/>
              </a:rPr>
              <a:t>언제 사지?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3611880"/>
            <a:ext cx="226771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0" i="0">
                <a:solidFill>
                  <a:srgbClr val="93A2BD"/>
                </a:solidFill>
                <a:latin typeface="Malgun Gothic"/>
                <a:ea typeface="Malgun Gothic"/>
              </a:rPr>
              <a:t>NAV 괴리·수급 흐름을 매일
확인할 시간과 도구가 없다.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148840"/>
            <a:ext cx="2670048" cy="3017520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3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2377440"/>
            <a:ext cx="22677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 i="0">
                <a:solidFill>
                  <a:srgbClr val="EEF4FF"/>
                </a:solidFill>
                <a:latin typeface="Malgun Gothic"/>
                <a:ea typeface="Malgun Gothic"/>
              </a:rPr>
              <a:t>정보 비대칭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880360"/>
            <a:ext cx="226771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600" b="1" i="0">
                <a:solidFill>
                  <a:srgbClr val="F1B340"/>
                </a:solidFill>
                <a:latin typeface="Malgun Gothic"/>
                <a:ea typeface="Malgun Gothic"/>
              </a:rPr>
              <a:t>기관 vs 개인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3611880"/>
            <a:ext cx="226771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0" i="0">
                <a:solidFill>
                  <a:srgbClr val="93A2BD"/>
                </a:solidFill>
                <a:latin typeface="Malgun Gothic"/>
                <a:ea typeface="Malgun Gothic"/>
              </a:rPr>
              <a:t>외국인·기관 수급 데이터는
해석이 어렵고 흩어져 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2148840"/>
            <a:ext cx="2670048" cy="3017520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3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08008" y="2377440"/>
            <a:ext cx="22677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 i="0">
                <a:solidFill>
                  <a:srgbClr val="EEF4FF"/>
                </a:solidFill>
                <a:latin typeface="Malgun Gothic"/>
                <a:ea typeface="Malgun Gothic"/>
              </a:rPr>
              <a:t>비중 설계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8008" y="2880360"/>
            <a:ext cx="226771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600" b="1" i="0">
                <a:solidFill>
                  <a:srgbClr val="F1B340"/>
                </a:solidFill>
                <a:latin typeface="Malgun Gothic"/>
                <a:ea typeface="Malgun Gothic"/>
              </a:rPr>
              <a:t>얼마나?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8" y="3611880"/>
            <a:ext cx="226771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0" i="0">
                <a:solidFill>
                  <a:srgbClr val="93A2BD"/>
                </a:solidFill>
                <a:latin typeface="Malgun Gothic"/>
                <a:ea typeface="Malgun Gothic"/>
              </a:rPr>
              <a:t>고른 뒤에도 종목별 비중을
정량적으로 짤 방법이 없다.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4406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 i="0">
                <a:solidFill>
                  <a:srgbClr val="93A2BD"/>
                </a:solidFill>
                <a:latin typeface="Malgun Gothic"/>
                <a:ea typeface="Malgun Gothic"/>
              </a:rPr>
              <a:t>결과: </a:t>
            </a:r>
            <a:r>
              <a:rPr sz="1500" b="1" i="0">
                <a:solidFill>
                  <a:srgbClr val="EEF4FF"/>
                </a:solidFill>
                <a:latin typeface="Malgun Gothic"/>
                <a:ea typeface="Malgun Gothic"/>
              </a:rPr>
              <a:t>대부분의 개인은 '감'으로 사거나, 남들이 사는 인기 ETF를 뒤늦게 따라 산다.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6437376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93A2BD"/>
                </a:solidFill>
                <a:latin typeface="Malgun Gothic"/>
                <a:ea typeface="Malgun Gothic"/>
              </a:rPr>
              <a:t>ETF Alpha · AI ETF Recommendation Subscription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6437376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93A2BD"/>
                </a:solidFill>
                <a:latin typeface="Malgun Gothic"/>
                <a:ea typeface="Malgun Gothi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0" cy="82296"/>
          </a:xfrm>
          <a:prstGeom prst="rect">
            <a:avLst/>
          </a:prstGeom>
          <a:solidFill>
            <a:srgbClr val="2AD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2AD0E6"/>
                </a:solidFill>
                <a:latin typeface="Malgun Gothic"/>
                <a:ea typeface="Malgun Gothic"/>
              </a:rPr>
              <a:t>ETF ALPHA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200" b="1" i="0">
                <a:solidFill>
                  <a:srgbClr val="EEF4FF"/>
                </a:solidFill>
                <a:latin typeface="Malgun Gothic"/>
                <a:ea typeface="Malgun Gothic"/>
              </a:rPr>
              <a:t>ETF Alpha — 매일 아침 받는 AI 추천 포트폴리오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48132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93A2BD"/>
                </a:solidFill>
                <a:latin typeface="Malgun Gothic"/>
                <a:ea typeface="Malgun Gothic"/>
              </a:rPr>
              <a:t>데이터 수집 → AI 분석 → 비중 산출까지 자동화. 사용자는 '오늘의 추천'만 확인하면 된다.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40280"/>
            <a:ext cx="457200" cy="45720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2AD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2402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800" b="1" i="0">
                <a:solidFill>
                  <a:srgbClr val="2AD0E6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203704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 i="0">
                <a:solidFill>
                  <a:srgbClr val="EEF4FF"/>
                </a:solidFill>
                <a:latin typeface="Malgun Gothic"/>
                <a:ea typeface="Malgun Gothic"/>
              </a:rPr>
              <a:t>하루 한 번, 정해진 결과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62432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93A2BD"/>
                </a:solidFill>
                <a:latin typeface="Malgun Gothic"/>
                <a:ea typeface="Malgun Gothic"/>
              </a:rPr>
              <a:t>장 시작 전(09:10 KST) 추천 ETF와 비중이 확정되어 모든 구독자에게 동일하게 제공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172968"/>
            <a:ext cx="457200" cy="45720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2AD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17296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800" b="1" i="0">
                <a:solidFill>
                  <a:srgbClr val="2AD0E6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136392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 i="0">
                <a:solidFill>
                  <a:srgbClr val="EEF4FF"/>
                </a:solidFill>
                <a:latin typeface="Malgun Gothic"/>
                <a:ea typeface="Malgun Gothic"/>
              </a:rPr>
              <a:t>PER·PBR 대신 NAV·수급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557016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93A2BD"/>
                </a:solidFill>
                <a:latin typeface="Malgun Gothic"/>
                <a:ea typeface="Malgun Gothic"/>
              </a:rPr>
              <a:t>ETF에 맞는 지표 — 실시간 NAV 변화율·괴리율, 외국인·기관 순매수로 신호 산출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05656"/>
            <a:ext cx="457200" cy="45720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2AD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10565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800" b="1" i="0">
                <a:solidFill>
                  <a:srgbClr val="2AD0E6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06908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 i="0">
                <a:solidFill>
                  <a:srgbClr val="EEF4FF"/>
                </a:solidFill>
                <a:latin typeface="Malgun Gothic"/>
                <a:ea typeface="Malgun Gothic"/>
              </a:rPr>
              <a:t>듀얼 AI 의사결정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489704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93A2BD"/>
                </a:solidFill>
                <a:latin typeface="Malgun Gothic"/>
                <a:ea typeface="Malgun Gothic"/>
              </a:rPr>
              <a:t>QWEN이 감성 점수(S_SCORE)를 보정하고, Gemini가 최종 ETF를 선별 (GPT 폴백)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038344"/>
            <a:ext cx="457200" cy="45720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2AD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038344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800" b="1" i="0">
                <a:solidFill>
                  <a:srgbClr val="2AD0E6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00176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 i="0">
                <a:solidFill>
                  <a:srgbClr val="EEF4FF"/>
                </a:solidFill>
                <a:latin typeface="Malgun Gothic"/>
                <a:ea typeface="Malgun Gothic"/>
              </a:rPr>
              <a:t>미래참조 편향 차단 설계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422392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93A2BD"/>
                </a:solidFill>
                <a:latin typeface="Malgun Gothic"/>
                <a:ea typeface="Malgun Gothic"/>
              </a:rPr>
              <a:t>모든 AI 프롬프트에 '기준 시점 이후 정보 사용 금지'를 강제 — 백테스트 신뢰성 확보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6437376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93A2BD"/>
                </a:solidFill>
                <a:latin typeface="Malgun Gothic"/>
                <a:ea typeface="Malgun Gothic"/>
              </a:rPr>
              <a:t>ETF Alpha · AI ETF Recommendation Subscription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437376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93A2BD"/>
                </a:solidFill>
                <a:latin typeface="Malgun Gothic"/>
                <a:ea typeface="Malgun Gothi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0" cy="82296"/>
          </a:xfrm>
          <a:prstGeom prst="rect">
            <a:avLst/>
          </a:prstGeom>
          <a:solidFill>
            <a:srgbClr val="2AD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2AD0E6"/>
                </a:solidFill>
                <a:latin typeface="Malgun Gothic"/>
                <a:ea typeface="Malgun Gothic"/>
              </a:rPr>
              <a:t>ETF ALPHA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200" b="1" i="0">
                <a:solidFill>
                  <a:srgbClr val="EEF4FF"/>
                </a:solidFill>
                <a:latin typeface="Malgun Gothic"/>
                <a:ea typeface="Malgun Gothic"/>
              </a:rPr>
              <a:t>작동 구조: 4단계 AI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48132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93A2BD"/>
                </a:solidFill>
                <a:latin typeface="Malgun Gothic"/>
                <a:ea typeface="Malgun Gothic"/>
              </a:rPr>
              <a:t>매일 1회 배치로 실행 — 한 번의 연산 결과를 전 구독자가 공유한다.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40280"/>
            <a:ext cx="2542032" cy="3200400"/>
          </a:xfrm>
          <a:prstGeom prst="roundRect">
            <a:avLst/>
          </a:prstGeom>
          <a:solidFill>
            <a:srgbClr val="111C30"/>
          </a:solidFill>
          <a:ln w="1905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95728"/>
            <a:ext cx="2542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 i="0">
                <a:solidFill>
                  <a:srgbClr val="5B8CFF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999232"/>
            <a:ext cx="21762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50" b="1" i="0">
                <a:solidFill>
                  <a:srgbClr val="EEF4FF"/>
                </a:solidFill>
                <a:latin typeface="Malgun Gothic"/>
                <a:ea typeface="Malgun Gothic"/>
              </a:rPr>
              <a:t>데이터 수집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520440"/>
            <a:ext cx="2176272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 i="0">
                <a:solidFill>
                  <a:srgbClr val="93A2BD"/>
                </a:solidFill>
                <a:latin typeface="Malgun Gothic"/>
                <a:ea typeface="Malgun Gothic"/>
              </a:rPr>
              <a:t>KIS Open API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 i="0">
                <a:solidFill>
                  <a:srgbClr val="93A2BD"/>
                </a:solidFill>
                <a:latin typeface="Malgun Gothic"/>
                <a:ea typeface="Malgun Gothic"/>
              </a:rPr>
              <a:t>· 실시간 NAV / 괴리율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 i="0">
                <a:solidFill>
                  <a:srgbClr val="93A2BD"/>
                </a:solidFill>
                <a:latin typeface="Malgun Gothic"/>
                <a:ea typeface="Malgun Gothic"/>
              </a:rPr>
              <a:t>· 외국인·기관 수급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 i="0">
                <a:solidFill>
                  <a:srgbClr val="93A2BD"/>
                </a:solidFill>
                <a:latin typeface="Malgun Gothic"/>
                <a:ea typeface="Malgun Gothic"/>
              </a:rPr>
              <a:t>· 일봉·구성종목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 i="0">
                <a:solidFill>
                  <a:srgbClr val="93A2BD"/>
                </a:solidFill>
                <a:latin typeface="Malgun Gothic"/>
                <a:ea typeface="Malgun Gothic"/>
              </a:rPr>
              <a:t>Naver 금융 뉴스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72384" y="3566160"/>
            <a:ext cx="3108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000" b="1" i="0">
                <a:solidFill>
                  <a:srgbClr val="5B8CFF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240280"/>
            <a:ext cx="2542032" cy="3200400"/>
          </a:xfrm>
          <a:prstGeom prst="roundRect">
            <a:avLst/>
          </a:prstGeom>
          <a:solidFill>
            <a:srgbClr val="111C30"/>
          </a:solidFill>
          <a:ln w="19050">
            <a:solidFill>
              <a:srgbClr val="9B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2395728"/>
            <a:ext cx="2542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 i="0">
                <a:solidFill>
                  <a:srgbClr val="9B7BFF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2999232"/>
            <a:ext cx="21762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50" b="1" i="0">
                <a:solidFill>
                  <a:srgbClr val="EEF4FF"/>
                </a:solidFill>
                <a:latin typeface="Malgun Gothic"/>
                <a:ea typeface="Malgun Gothic"/>
              </a:rPr>
              <a:t>QWEN · S_SCORE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3520440"/>
            <a:ext cx="2176272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 i="0">
                <a:solidFill>
                  <a:srgbClr val="93A2BD"/>
                </a:solidFill>
                <a:latin typeface="Malgun Gothic"/>
                <a:ea typeface="Malgun Gothic"/>
              </a:rPr>
              <a:t>휴리스틱 1차 점수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 i="0">
                <a:solidFill>
                  <a:srgbClr val="93A2BD"/>
                </a:solidFill>
                <a:latin typeface="Malgun Gothic"/>
                <a:ea typeface="Malgun Gothic"/>
              </a:rPr>
              <a:t>→ QWEN이 검토·보정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 i="0">
                <a:solidFill>
                  <a:srgbClr val="93A2BD"/>
                </a:solidFill>
                <a:latin typeface="Malgun Gothic"/>
                <a:ea typeface="Malgun Gothic"/>
              </a:rPr>
              <a:t>뉴스+NAV+수급 종합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 i="0">
                <a:solidFill>
                  <a:srgbClr val="93A2BD"/>
                </a:solidFill>
                <a:latin typeface="Malgun Gothic"/>
                <a:ea typeface="Malgun Gothic"/>
              </a:rPr>
              <a:t>최종 감성 점수 산출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 i="0">
                <a:solidFill>
                  <a:srgbClr val="F1B340"/>
                </a:solidFill>
                <a:latin typeface="Malgun Gothic"/>
                <a:ea typeface="Malgun Gothic"/>
              </a:rPr>
              <a:t>🛡️ 미래정보 금지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07024" y="3566160"/>
            <a:ext cx="3108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000" b="1" i="0">
                <a:solidFill>
                  <a:srgbClr val="9B7BFF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240280"/>
            <a:ext cx="2542032" cy="3200400"/>
          </a:xfrm>
          <a:prstGeom prst="roundRect">
            <a:avLst/>
          </a:prstGeom>
          <a:solidFill>
            <a:srgbClr val="111C30"/>
          </a:solidFill>
          <a:ln w="19050">
            <a:solidFill>
              <a:srgbClr val="2AD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2395728"/>
            <a:ext cx="2542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 i="0">
                <a:solidFill>
                  <a:srgbClr val="2AD0E6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999232"/>
            <a:ext cx="21762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50" b="1" i="0">
                <a:solidFill>
                  <a:srgbClr val="EEF4FF"/>
                </a:solidFill>
                <a:latin typeface="Malgun Gothic"/>
                <a:ea typeface="Malgun Gothic"/>
              </a:rPr>
              <a:t>Gemini · 스크리닝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520440"/>
            <a:ext cx="2176272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 i="0">
                <a:solidFill>
                  <a:srgbClr val="93A2BD"/>
                </a:solidFill>
                <a:latin typeface="Malgun Gothic"/>
                <a:ea typeface="Malgun Gothic"/>
              </a:rPr>
              <a:t>후보 ETF 비교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 i="0">
                <a:solidFill>
                  <a:srgbClr val="93A2BD"/>
                </a:solidFill>
                <a:latin typeface="Malgun Gothic"/>
                <a:ea typeface="Malgun Gothic"/>
              </a:rPr>
              <a:t>유망 종목 선별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 i="0">
                <a:solidFill>
                  <a:srgbClr val="93A2BD"/>
                </a:solidFill>
                <a:latin typeface="Malgun Gothic"/>
                <a:ea typeface="Malgun Gothic"/>
              </a:rPr>
              <a:t>섹터 분산 고려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 i="0">
                <a:solidFill>
                  <a:srgbClr val="93A2BD"/>
                </a:solidFill>
                <a:latin typeface="Malgun Gothic"/>
                <a:ea typeface="Malgun Gothic"/>
              </a:rPr>
              <a:t>GPT 폴백 지원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 i="0">
                <a:solidFill>
                  <a:srgbClr val="F1B340"/>
                </a:solidFill>
                <a:latin typeface="Malgun Gothic"/>
                <a:ea typeface="Malgun Gothic"/>
              </a:rPr>
              <a:t>🛡️ 미래정보 금지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41664" y="3566160"/>
            <a:ext cx="3108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000" b="1" i="0">
                <a:solidFill>
                  <a:srgbClr val="2AD0E6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2240280"/>
            <a:ext cx="2542032" cy="3200400"/>
          </a:xfrm>
          <a:prstGeom prst="roundRect">
            <a:avLst/>
          </a:prstGeom>
          <a:solidFill>
            <a:srgbClr val="111C30"/>
          </a:solidFill>
          <a:ln w="19050">
            <a:solidFill>
              <a:srgbClr val="28D3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3728" y="2395728"/>
            <a:ext cx="2542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 i="0">
                <a:solidFill>
                  <a:srgbClr val="28D397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2999232"/>
            <a:ext cx="21762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50" b="1" i="0">
                <a:solidFill>
                  <a:srgbClr val="EEF4FF"/>
                </a:solidFill>
                <a:latin typeface="Malgun Gothic"/>
                <a:ea typeface="Malgun Gothic"/>
              </a:rPr>
              <a:t>비중 산출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3520440"/>
            <a:ext cx="2176272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 i="0">
                <a:solidFill>
                  <a:srgbClr val="93A2BD"/>
                </a:solidFill>
                <a:latin typeface="Malgun Gothic"/>
                <a:ea typeface="Malgun Gothic"/>
              </a:rPr>
              <a:t>Black-Litterman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 i="0">
                <a:solidFill>
                  <a:srgbClr val="93A2BD"/>
                </a:solidFill>
                <a:latin typeface="Malgun Gothic"/>
                <a:ea typeface="Malgun Gothic"/>
              </a:rPr>
              <a:t>공분산·기대수익 결합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 i="0">
                <a:solidFill>
                  <a:srgbClr val="93A2BD"/>
                </a:solidFill>
                <a:latin typeface="Malgun Gothic"/>
                <a:ea typeface="Malgun Gothic"/>
              </a:rPr>
              <a:t>종목별 최적 비중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 i="0">
                <a:solidFill>
                  <a:srgbClr val="93A2BD"/>
                </a:solidFill>
                <a:latin typeface="Malgun Gothic"/>
                <a:ea typeface="Malgun Gothic"/>
              </a:rPr>
              <a:t>최대 비중 캡 적용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 i="0">
                <a:solidFill>
                  <a:srgbClr val="93A2BD"/>
                </a:solidFill>
                <a:latin typeface="Malgun Gothic"/>
                <a:ea typeface="Malgun Gothic"/>
              </a:rPr>
              <a:t>추천 포트폴리오 확정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6692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2AD0E6"/>
                </a:solidFill>
                <a:latin typeface="Malgun Gothic"/>
                <a:ea typeface="Malgun Gothic"/>
              </a:rPr>
              <a:t>핵심: </a:t>
            </a:r>
            <a:r>
              <a:rPr sz="1400" b="1" i="0">
                <a:solidFill>
                  <a:srgbClr val="EEF4FF"/>
                </a:solidFill>
                <a:latin typeface="Malgun Gothic"/>
                <a:ea typeface="Malgun Gothic"/>
              </a:rPr>
              <a:t>추천은 하루 한 번만 계산된다 → 구독자가 늘어도 연산 비용은 거의 그대로 (한계비용 ≈ 0).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6437376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93A2BD"/>
                </a:solidFill>
                <a:latin typeface="Malgun Gothic"/>
                <a:ea typeface="Malgun Gothic"/>
              </a:rPr>
              <a:t>ETF Alpha · AI ETF Recommendation Subscription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6437376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93A2BD"/>
                </a:solidFill>
                <a:latin typeface="Malgun Gothic"/>
                <a:ea typeface="Malgun Gothi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0" cy="82296"/>
          </a:xfrm>
          <a:prstGeom prst="rect">
            <a:avLst/>
          </a:prstGeom>
          <a:solidFill>
            <a:srgbClr val="2AD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2AD0E6"/>
                </a:solidFill>
                <a:latin typeface="Malgun Gothic"/>
                <a:ea typeface="Malgun Gothic"/>
              </a:rPr>
              <a:t>ETF ALPHA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200" b="1" i="0">
                <a:solidFill>
                  <a:srgbClr val="EEF4FF"/>
                </a:solidFill>
                <a:latin typeface="Malgun Gothic"/>
                <a:ea typeface="Malgun Gothic"/>
              </a:rPr>
              <a:t>데이터 계층: PER·PBR을 버리고 ETF 지표로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48132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93A2BD"/>
                </a:solidFill>
                <a:latin typeface="Malgun Gothic"/>
                <a:ea typeface="Malgun Gothic"/>
              </a:rPr>
              <a:t>개별주식용 밸류에이션 대신, ETF의 본질인 NAV와 수급을 신호로 사용한다.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1" i="0">
                <a:solidFill>
                  <a:srgbClr val="2AD0E6"/>
                </a:solidFill>
                <a:latin typeface="Malgun Gothic"/>
                <a:ea typeface="Malgun Gothic"/>
              </a:rPr>
              <a:t>📈 NAV 지표 (PER 대체)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0574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1" i="0">
                <a:solidFill>
                  <a:srgbClr val="28D397"/>
                </a:solidFill>
                <a:latin typeface="Malgun Gothic"/>
                <a:ea typeface="Malgun Gothic"/>
              </a:rPr>
              <a:t>💰 수급 지표 (PBR 대체)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5394960" cy="896112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3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67004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EEF4FF"/>
                </a:solidFill>
                <a:latin typeface="Malgun Gothic"/>
                <a:ea typeface="Malgun Gothic"/>
              </a:rPr>
              <a:t>실시간 NAV 변화율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03580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 i="0">
                <a:solidFill>
                  <a:srgbClr val="93A2BD"/>
                </a:solidFill>
                <a:latin typeface="Malgun Gothic"/>
                <a:ea typeface="Malgun Gothic"/>
              </a:rPr>
              <a:t>전일 대비 NAV 등락률 — 자산가치의 실제 움직임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11880"/>
            <a:ext cx="5394960" cy="896112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3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72160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EEF4FF"/>
                </a:solidFill>
                <a:latin typeface="Malgun Gothic"/>
                <a:ea typeface="Malgun Gothic"/>
              </a:rPr>
              <a:t>괴리율 (Premium/Discount)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08736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 i="0">
                <a:solidFill>
                  <a:srgbClr val="93A2BD"/>
                </a:solidFill>
                <a:latin typeface="Malgun Gothic"/>
                <a:ea typeface="Malgun Gothic"/>
              </a:rPr>
              <a:t>(시장가 − NAV) / NAV — 고평가·저평가 판단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663440"/>
            <a:ext cx="5394960" cy="896112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3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77316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EEF4FF"/>
                </a:solidFill>
                <a:latin typeface="Malgun Gothic"/>
                <a:ea typeface="Malgun Gothic"/>
              </a:rPr>
              <a:t>추적오차 (Tracking Error)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13892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 i="0">
                <a:solidFill>
                  <a:srgbClr val="93A2BD"/>
                </a:solidFill>
                <a:latin typeface="Malgun Gothic"/>
                <a:ea typeface="Malgun Gothic"/>
              </a:rPr>
              <a:t>지수 대비 추종 정확도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560320"/>
            <a:ext cx="5349240" cy="896112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3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2670048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EEF4FF"/>
                </a:solidFill>
                <a:latin typeface="Malgun Gothic"/>
                <a:ea typeface="Malgun Gothic"/>
              </a:rPr>
              <a:t>외국인·기관 순매수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3035808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 i="0">
                <a:solidFill>
                  <a:srgbClr val="93A2BD"/>
                </a:solidFill>
                <a:latin typeface="Malgun Gothic"/>
                <a:ea typeface="Malgun Gothic"/>
              </a:rPr>
              <a:t>최근 N영업일 수급 — 스마트머니 방향성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611880"/>
            <a:ext cx="5349240" cy="896112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3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3721608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EEF4FF"/>
                </a:solidFill>
                <a:latin typeface="Malgun Gothic"/>
                <a:ea typeface="Malgun Gothic"/>
              </a:rPr>
              <a:t>수급 점수 (정규화)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4087368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 i="0">
                <a:solidFill>
                  <a:srgbClr val="93A2BD"/>
                </a:solidFill>
                <a:latin typeface="Malgun Gothic"/>
                <a:ea typeface="Malgun Gothic"/>
              </a:rPr>
              <a:t>순매수 대금 tanh 정규화 [-1, +1]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4663440"/>
            <a:ext cx="5349240" cy="896112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3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4773168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EEF4FF"/>
                </a:solidFill>
                <a:latin typeface="Malgun Gothic"/>
                <a:ea typeface="Malgun Gothic"/>
              </a:rPr>
              <a:t>1주 모멘텀 / 구성종목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5138928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 i="0">
                <a:solidFill>
                  <a:srgbClr val="93A2BD"/>
                </a:solidFill>
                <a:latin typeface="Malgun Gothic"/>
                <a:ea typeface="Malgun Gothic"/>
              </a:rPr>
              <a:t>단기 추세 + ETF가 실제 담은 종목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8978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93A2BD"/>
                </a:solidFill>
                <a:latin typeface="Malgun Gothic"/>
                <a:ea typeface="Malgun Gothic"/>
              </a:rPr>
              <a:t>데이터 출처: </a:t>
            </a:r>
            <a:r>
              <a:rPr sz="1250" b="0" i="0">
                <a:solidFill>
                  <a:srgbClr val="EEF4FF"/>
                </a:solidFill>
                <a:latin typeface="Malgun Gothic"/>
                <a:ea typeface="Malgun Gothic"/>
              </a:rPr>
              <a:t>한국투자증권 Open API (NAV·수급·일봉·구성종목, 라이브 검증 완료) + 네이버 금융 뉴스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" y="6437376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93A2BD"/>
                </a:solidFill>
                <a:latin typeface="Malgun Gothic"/>
                <a:ea typeface="Malgun Gothic"/>
              </a:rPr>
              <a:t>ETF Alpha · AI ETF Recommendation Subscription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6437376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93A2BD"/>
                </a:solidFill>
                <a:latin typeface="Malgun Gothic"/>
                <a:ea typeface="Malgun Gothi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0" cy="82296"/>
          </a:xfrm>
          <a:prstGeom prst="rect">
            <a:avLst/>
          </a:prstGeom>
          <a:solidFill>
            <a:srgbClr val="2AD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2AD0E6"/>
                </a:solidFill>
                <a:latin typeface="Malgun Gothic"/>
                <a:ea typeface="Malgun Gothic"/>
              </a:rPr>
              <a:t>ETF ALPHA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200" b="1" i="0">
                <a:solidFill>
                  <a:srgbClr val="EEF4FF"/>
                </a:solidFill>
                <a:latin typeface="Malgun Gothic"/>
                <a:ea typeface="Malgun Gothic"/>
              </a:rPr>
              <a:t>AI 계층: 듀얼 엔진 + 미래참조 편향 차단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48132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93A2BD"/>
                </a:solidFill>
                <a:latin typeface="Malgun Gothic"/>
                <a:ea typeface="Malgun Gothic"/>
              </a:rPr>
              <a:t>역할을 분리한 두 AI. 그리고 모든 프롬프트에 들어가는 안전장치.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3566160" cy="2377440"/>
          </a:xfrm>
          <a:prstGeom prst="roundRect">
            <a:avLst/>
          </a:prstGeom>
          <a:solidFill>
            <a:srgbClr val="111C30"/>
          </a:solidFill>
          <a:ln w="19050">
            <a:solidFill>
              <a:srgbClr val="9B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2860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200" b="1" i="0">
                <a:solidFill>
                  <a:srgbClr val="9B7BFF"/>
                </a:solidFill>
                <a:latin typeface="Malgun Gothic"/>
                <a:ea typeface="Malgun Gothic"/>
              </a:rPr>
              <a:t>QWEN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889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EEF4FF"/>
                </a:solidFill>
                <a:latin typeface="Malgun Gothic"/>
                <a:ea typeface="Malgun Gothic"/>
              </a:rPr>
              <a:t>감성 점수 (S_SCORE)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200400"/>
            <a:ext cx="3108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93A2BD"/>
                </a:solidFill>
                <a:latin typeface="Malgun Gothic"/>
                <a:ea typeface="Malgun Gothic"/>
              </a:rPr>
              <a:t>· 휴리스틱 점수를 참고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93A2BD"/>
                </a:solidFill>
                <a:latin typeface="Malgun Gothic"/>
                <a:ea typeface="Malgun Gothic"/>
              </a:rPr>
              <a:t>· 뉴스·NAV·수급 종합 보정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93A2BD"/>
                </a:solidFill>
                <a:latin typeface="Malgun Gothic"/>
                <a:ea typeface="Malgun Gothic"/>
              </a:rPr>
              <a:t>· −100 ~ +100 최종 점수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103120"/>
            <a:ext cx="3566160" cy="2377440"/>
          </a:xfrm>
          <a:prstGeom prst="roundRect">
            <a:avLst/>
          </a:prstGeom>
          <a:solidFill>
            <a:srgbClr val="111C30"/>
          </a:solidFill>
          <a:ln w="19050">
            <a:solidFill>
              <a:srgbClr val="2AD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22860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200" b="1" i="0">
                <a:solidFill>
                  <a:srgbClr val="2AD0E6"/>
                </a:solidFill>
                <a:latin typeface="Malgun Gothic"/>
                <a:ea typeface="Malgun Gothic"/>
              </a:rPr>
              <a:t>Gemini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27889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EEF4FF"/>
                </a:solidFill>
                <a:latin typeface="Malgun Gothic"/>
                <a:ea typeface="Malgun Gothic"/>
              </a:rPr>
              <a:t>ETF 스크리닝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3200400"/>
            <a:ext cx="3108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93A2BD"/>
                </a:solidFill>
                <a:latin typeface="Malgun Gothic"/>
                <a:ea typeface="Malgun Gothic"/>
              </a:rPr>
              <a:t>· 후보 ETF 비교·선별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93A2BD"/>
                </a:solidFill>
                <a:latin typeface="Malgun Gothic"/>
                <a:ea typeface="Malgun Gothic"/>
              </a:rPr>
              <a:t>· 섹터 분산 고려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93A2BD"/>
                </a:solidFill>
                <a:latin typeface="Malgun Gothic"/>
                <a:ea typeface="Malgun Gothic"/>
              </a:rPr>
              <a:t>· 실패 시 GPT 자동 폴백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103120"/>
            <a:ext cx="3611880" cy="2377440"/>
          </a:xfrm>
          <a:prstGeom prst="roundRect">
            <a:avLst/>
          </a:prstGeom>
          <a:solidFill>
            <a:srgbClr val="16223A"/>
          </a:solidFill>
          <a:ln w="19050">
            <a:solidFill>
              <a:srgbClr val="F1B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22860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 i="0">
                <a:solidFill>
                  <a:srgbClr val="F1B340"/>
                </a:solidFill>
                <a:latin typeface="Malgun Gothic"/>
                <a:ea typeface="Malgun Gothic"/>
              </a:rPr>
              <a:t>🛡️ 안전장치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78892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EEF4FF"/>
                </a:solidFill>
                <a:latin typeface="Malgun Gothic"/>
                <a:ea typeface="Malgun Gothic"/>
              </a:rPr>
              <a:t>Look-ahead Bias Guard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3200400"/>
            <a:ext cx="3200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93A2BD"/>
                </a:solidFill>
                <a:latin typeface="Malgun Gothic"/>
                <a:ea typeface="Malgun Gothic"/>
              </a:rPr>
              <a:t>· '기준 시점 이후 정보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93A2BD"/>
                </a:solidFill>
                <a:latin typeface="Malgun Gothic"/>
                <a:ea typeface="Malgun Gothic"/>
              </a:rPr>
              <a:t>  사용 금지' 강제 주입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93A2BD"/>
                </a:solidFill>
                <a:latin typeface="Malgun Gothic"/>
                <a:ea typeface="Malgun Gothic"/>
              </a:rPr>
              <a:t>· 백테스트 신뢰성 확보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 i="0">
                <a:solidFill>
                  <a:srgbClr val="93A2BD"/>
                </a:solidFill>
                <a:latin typeface="Malgun Gothic"/>
                <a:ea typeface="Malgun Gothic"/>
              </a:rPr>
              <a:t>· 키 없으면 휴리스틱 폴백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709160"/>
            <a:ext cx="11109960" cy="1234440"/>
          </a:xfrm>
          <a:prstGeom prst="roundRect">
            <a:avLst/>
          </a:prstGeom>
          <a:solidFill>
            <a:srgbClr val="0A1322"/>
          </a:solidFill>
          <a:ln w="12700">
            <a:solidFill>
              <a:srgbClr val="F1B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864608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 i="0">
                <a:solidFill>
                  <a:srgbClr val="F1B340"/>
                </a:solidFill>
                <a:latin typeface="Malgun Gothic"/>
                <a:ea typeface="Malgun Gothic"/>
              </a:rPr>
              <a:t>왜 중요한가  </a:t>
            </a:r>
            <a:r>
              <a:rPr sz="1350" b="0" i="0">
                <a:solidFill>
                  <a:srgbClr val="EEF4FF"/>
                </a:solidFill>
                <a:latin typeface="Malgun Gothic"/>
                <a:ea typeface="Malgun Gothic"/>
              </a:rPr>
              <a:t>— '미래를 본' 추천은 백테스트에서 비현실적으로 좋아 보인다. ETF Alpha는 프롬프트 레벨에서 기준 시점 이후 데이터를 차단해, 추천 시점에 실제로 알 수 있었던 정보만으로 판단한다.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6437376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93A2BD"/>
                </a:solidFill>
                <a:latin typeface="Malgun Gothic"/>
                <a:ea typeface="Malgun Gothic"/>
              </a:rPr>
              <a:t>ETF Alpha · AI ETF Recommendation Subscription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437376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93A2BD"/>
                </a:solidFill>
                <a:latin typeface="Malgun Gothic"/>
                <a:ea typeface="Malgun Gothi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0" cy="82296"/>
          </a:xfrm>
          <a:prstGeom prst="rect">
            <a:avLst/>
          </a:prstGeom>
          <a:solidFill>
            <a:srgbClr val="2AD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2AD0E6"/>
                </a:solidFill>
                <a:latin typeface="Malgun Gothic"/>
                <a:ea typeface="Malgun Gothic"/>
              </a:rPr>
              <a:t>ETF ALPHA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200" b="1" i="0">
                <a:solidFill>
                  <a:srgbClr val="EEF4FF"/>
                </a:solidFill>
                <a:latin typeface="Malgun Gothic"/>
                <a:ea typeface="Malgun Gothic"/>
              </a:rPr>
              <a:t>시스템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48132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93A2BD"/>
                </a:solidFill>
                <a:latin typeface="Malgun Gothic"/>
                <a:ea typeface="Malgun Gothic"/>
              </a:rPr>
              <a:t>수집 → 피처 → AI → 비중 → 서빙. 배치 1회, 모두에게 서빙.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2377440" cy="658368"/>
          </a:xfrm>
          <a:prstGeom prst="roundRect">
            <a:avLst/>
          </a:prstGeom>
          <a:solidFill>
            <a:srgbClr val="16223A"/>
          </a:solidFill>
          <a:ln w="1651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23774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5B8CFF"/>
                </a:solidFill>
                <a:latin typeface="Malgun Gothic"/>
                <a:ea typeface="Malgun Gothic"/>
              </a:rPr>
              <a:t>외부 데이터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2103120"/>
            <a:ext cx="8595360" cy="658368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3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2103120"/>
            <a:ext cx="82296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EEF4FF"/>
                </a:solidFill>
                <a:latin typeface="Malgun Gothic"/>
                <a:ea typeface="Malgun Gothic"/>
              </a:rPr>
              <a:t>KIS Open API  ·  Naver 금융 뉴스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72491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93A2BD"/>
                </a:solidFill>
                <a:latin typeface="Malgun Gothic"/>
                <a:ea typeface="Malgun Gothic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89504"/>
            <a:ext cx="2377440" cy="658368"/>
          </a:xfrm>
          <a:prstGeom prst="roundRect">
            <a:avLst/>
          </a:prstGeom>
          <a:solidFill>
            <a:srgbClr val="16223A"/>
          </a:solidFill>
          <a:ln w="16510">
            <a:solidFill>
              <a:srgbClr val="2AD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89504"/>
            <a:ext cx="23774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2AD0E6"/>
                </a:solidFill>
                <a:latin typeface="Malgun Gothic"/>
                <a:ea typeface="Malgun Gothic"/>
              </a:rPr>
              <a:t>피처 엔진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2889504"/>
            <a:ext cx="8595360" cy="658368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3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2889504"/>
            <a:ext cx="82296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EEF4FF"/>
                </a:solidFill>
                <a:latin typeface="Malgun Gothic"/>
                <a:ea typeface="Malgun Gothic"/>
              </a:rPr>
              <a:t>NAV 변화·괴리율·추적오차  ·  외국인/기관 수급  ·  모멘텀·구성종목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511296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93A2BD"/>
                </a:solidFill>
                <a:latin typeface="Malgun Gothic"/>
                <a:ea typeface="Malgun Gothic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75888"/>
            <a:ext cx="2377440" cy="658368"/>
          </a:xfrm>
          <a:prstGeom prst="roundRect">
            <a:avLst/>
          </a:prstGeom>
          <a:solidFill>
            <a:srgbClr val="16223A"/>
          </a:solidFill>
          <a:ln w="16510">
            <a:solidFill>
              <a:srgbClr val="9B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675888"/>
            <a:ext cx="23774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9B7BFF"/>
                </a:solidFill>
                <a:latin typeface="Malgun Gothic"/>
                <a:ea typeface="Malgun Gothic"/>
              </a:rPr>
              <a:t>AI 계층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63240" y="3675888"/>
            <a:ext cx="8595360" cy="658368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3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3675888"/>
            <a:ext cx="82296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EEF4FF"/>
                </a:solidFill>
                <a:latin typeface="Malgun Gothic"/>
                <a:ea typeface="Malgun Gothic"/>
              </a:rPr>
              <a:t>QWEN (S_SCORE 보정)  →  Gemini 스크리닝 (GPT 폴백)  ·  🛡️ Bias Guard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29768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93A2BD"/>
                </a:solidFill>
                <a:latin typeface="Malgun Gothic"/>
                <a:ea typeface="Malgun Gothic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462272"/>
            <a:ext cx="2377440" cy="658368"/>
          </a:xfrm>
          <a:prstGeom prst="roundRect">
            <a:avLst/>
          </a:prstGeom>
          <a:solidFill>
            <a:srgbClr val="16223A"/>
          </a:solidFill>
          <a:ln w="16510">
            <a:solidFill>
              <a:srgbClr val="28D3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462272"/>
            <a:ext cx="23774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28D397"/>
                </a:solidFill>
                <a:latin typeface="Malgun Gothic"/>
                <a:ea typeface="Malgun Gothic"/>
              </a:rPr>
              <a:t>포트폴리오 엔진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63240" y="4462272"/>
            <a:ext cx="8595360" cy="658368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3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0" y="4462272"/>
            <a:ext cx="82296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EEF4FF"/>
                </a:solidFill>
                <a:latin typeface="Malgun Gothic"/>
                <a:ea typeface="Malgun Gothic"/>
              </a:rPr>
              <a:t>Black-Litterman 비중 산출  ·  최대 비중 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084064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93A2BD"/>
                </a:solidFill>
                <a:latin typeface="Malgun Gothic"/>
                <a:ea typeface="Malgun Gothic"/>
              </a:rPr>
              <a:t>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248656"/>
            <a:ext cx="2377440" cy="658368"/>
          </a:xfrm>
          <a:prstGeom prst="roundRect">
            <a:avLst/>
          </a:prstGeom>
          <a:solidFill>
            <a:srgbClr val="16223A"/>
          </a:solidFill>
          <a:ln w="16510">
            <a:solidFill>
              <a:srgbClr val="F1B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248656"/>
            <a:ext cx="23774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F1B340"/>
                </a:solidFill>
                <a:latin typeface="Malgun Gothic"/>
                <a:ea typeface="Malgun Gothic"/>
              </a:rPr>
              <a:t>서빙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5248656"/>
            <a:ext cx="8595360" cy="658368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3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5248656"/>
            <a:ext cx="82296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50" b="0" i="0">
                <a:solidFill>
                  <a:srgbClr val="EEF4FF"/>
                </a:solidFill>
                <a:latin typeface="Malgun Gothic"/>
                <a:ea typeface="Malgun Gothic"/>
              </a:rPr>
              <a:t>HTTP API (배치 결과 캐싱)  →  구독 게이팅 프론트엔드 (Free/Pro/Premium)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 i="0">
                <a:solidFill>
                  <a:srgbClr val="93A2BD"/>
                </a:solidFill>
                <a:latin typeface="Malgun Gothic"/>
                <a:ea typeface="Malgun Gothic"/>
              </a:rPr>
              <a:t>Python · requests · numpy · 표준 라이브러리 HTTP 서버 — 외부 의존성 최소화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6437376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93A2BD"/>
                </a:solidFill>
                <a:latin typeface="Malgun Gothic"/>
                <a:ea typeface="Malgun Gothic"/>
              </a:rPr>
              <a:t>ETF Alpha · AI ETF Recommendation Subscription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6437376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93A2BD"/>
                </a:solidFill>
                <a:latin typeface="Malgun Gothic"/>
                <a:ea typeface="Malgun Gothi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0" cy="82296"/>
          </a:xfrm>
          <a:prstGeom prst="rect">
            <a:avLst/>
          </a:prstGeom>
          <a:solidFill>
            <a:srgbClr val="2AD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2AD0E6"/>
                </a:solidFill>
                <a:latin typeface="Malgun Gothic"/>
                <a:ea typeface="Malgun Gothic"/>
              </a:rPr>
              <a:t>ETF ALPHA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200" b="1" i="0">
                <a:solidFill>
                  <a:srgbClr val="EEF4FF"/>
                </a:solidFill>
                <a:latin typeface="Malgun Gothic"/>
                <a:ea typeface="Malgun Gothic"/>
              </a:rPr>
              <a:t>무엇이 다른가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48132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93A2BD"/>
                </a:solidFill>
                <a:latin typeface="Malgun Gothic"/>
                <a:ea typeface="Malgun Gothic"/>
              </a:rPr>
              <a:t>기존 ETF 정보 서비스 대비 ETF Alpha의 3가지 우위.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2377440" cy="50292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23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71800" y="2103120"/>
            <a:ext cx="4114800" cy="50292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23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0" y="2103120"/>
            <a:ext cx="4526280" cy="50292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93A2BD"/>
                </a:solidFill>
                <a:latin typeface="Malgun Gothic"/>
                <a:ea typeface="Malgun Gothic"/>
              </a:rPr>
              <a:t>항목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103120"/>
            <a:ext cx="4114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93A2BD"/>
                </a:solidFill>
                <a:latin typeface="Malgun Gothic"/>
                <a:ea typeface="Malgun Gothic"/>
              </a:rPr>
              <a:t>일반 ETF 정보 서비스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103120"/>
            <a:ext cx="4526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5B8CFF"/>
                </a:solidFill>
                <a:latin typeface="Malgun Gothic"/>
                <a:ea typeface="Malgun Gothic"/>
              </a:rPr>
              <a:t>ETF Alpha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70048"/>
            <a:ext cx="2377440" cy="603504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3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70048"/>
            <a:ext cx="2194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EEF4FF"/>
                </a:solidFill>
                <a:latin typeface="Malgun Gothic"/>
                <a:ea typeface="Malgun Gothic"/>
              </a:rPr>
              <a:t>지표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71800" y="2670048"/>
            <a:ext cx="4114800" cy="603504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3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0" y="2670048"/>
            <a:ext cx="38404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93A2BD"/>
                </a:solidFill>
                <a:latin typeface="Malgun Gothic"/>
                <a:ea typeface="Malgun Gothic"/>
              </a:rPr>
              <a:t>PER·PBR 등 주식용 지표 재활용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2670048"/>
            <a:ext cx="4526280" cy="603504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2670048"/>
            <a:ext cx="42976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EEF4FF"/>
                </a:solidFill>
                <a:latin typeface="Malgun Gothic"/>
                <a:ea typeface="Malgun Gothic"/>
              </a:rPr>
              <a:t>ETF 본질인 NAV 변화·수급 신호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46704"/>
            <a:ext cx="2377440" cy="603504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3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346704"/>
            <a:ext cx="2194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EEF4FF"/>
                </a:solidFill>
                <a:latin typeface="Malgun Gothic"/>
                <a:ea typeface="Malgun Gothic"/>
              </a:rPr>
              <a:t>의사결정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71800" y="3346704"/>
            <a:ext cx="4114800" cy="603504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3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8960" y="3346704"/>
            <a:ext cx="38404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93A2BD"/>
                </a:solidFill>
                <a:latin typeface="Malgun Gothic"/>
                <a:ea typeface="Malgun Gothic"/>
              </a:rPr>
              <a:t>단일 룰 / 단순 랭킹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0" y="3346704"/>
            <a:ext cx="4526280" cy="603504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3346704"/>
            <a:ext cx="42976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EEF4FF"/>
                </a:solidFill>
                <a:latin typeface="Malgun Gothic"/>
                <a:ea typeface="Malgun Gothic"/>
              </a:rPr>
              <a:t>QWEN+Gemini 듀얼 AI + 근거 제시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023360"/>
            <a:ext cx="2377440" cy="603504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3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023360"/>
            <a:ext cx="2194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EEF4FF"/>
                </a:solidFill>
                <a:latin typeface="Malgun Gothic"/>
                <a:ea typeface="Malgun Gothic"/>
              </a:rPr>
              <a:t>신뢰성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71800" y="4023360"/>
            <a:ext cx="4114800" cy="603504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3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08960" y="4023360"/>
            <a:ext cx="38404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93A2BD"/>
                </a:solidFill>
                <a:latin typeface="Malgun Gothic"/>
                <a:ea typeface="Malgun Gothic"/>
              </a:rPr>
              <a:t>미래참조 편향에 취약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0" y="4023360"/>
            <a:ext cx="4526280" cy="603504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9480" y="4023360"/>
            <a:ext cx="42976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EEF4FF"/>
                </a:solidFill>
                <a:latin typeface="Malgun Gothic"/>
                <a:ea typeface="Malgun Gothic"/>
              </a:rPr>
              <a:t>프롬프트 레벨 Bias Guard 내장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700016"/>
            <a:ext cx="2377440" cy="603504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3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700016"/>
            <a:ext cx="2194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EEF4FF"/>
                </a:solidFill>
                <a:latin typeface="Malgun Gothic"/>
                <a:ea typeface="Malgun Gothic"/>
              </a:rPr>
              <a:t>산출물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71800" y="4700016"/>
            <a:ext cx="4114800" cy="603504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3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08960" y="4700016"/>
            <a:ext cx="38404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93A2BD"/>
                </a:solidFill>
                <a:latin typeface="Malgun Gothic"/>
                <a:ea typeface="Malgun Gothic"/>
              </a:rPr>
              <a:t>종목 리스트만 제공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2320" y="4700016"/>
            <a:ext cx="4526280" cy="603504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9480" y="4700016"/>
            <a:ext cx="42976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EEF4FF"/>
                </a:solidFill>
                <a:latin typeface="Malgun Gothic"/>
                <a:ea typeface="Malgun Gothic"/>
              </a:rPr>
              <a:t>비중까지 산출된 실행 가능 포트폴리오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376672"/>
            <a:ext cx="2377440" cy="603504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3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376672"/>
            <a:ext cx="219456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EEF4FF"/>
                </a:solidFill>
                <a:latin typeface="Malgun Gothic"/>
                <a:ea typeface="Malgun Gothic"/>
              </a:rPr>
              <a:t>비용구조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971800" y="5376672"/>
            <a:ext cx="4114800" cy="603504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3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08960" y="5376672"/>
            <a:ext cx="38404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93A2BD"/>
                </a:solidFill>
                <a:latin typeface="Malgun Gothic"/>
                <a:ea typeface="Malgun Gothic"/>
              </a:rPr>
              <a:t>사용자당 비용 증가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32320" y="5376672"/>
            <a:ext cx="4526280" cy="603504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9480" y="5376672"/>
            <a:ext cx="42976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EEF4FF"/>
                </a:solidFill>
                <a:latin typeface="Malgun Gothic"/>
                <a:ea typeface="Malgun Gothic"/>
              </a:rPr>
              <a:t>1회 연산 → 전원 공유 (한계비용 ≈ 0)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" y="6437376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93A2BD"/>
                </a:solidFill>
                <a:latin typeface="Malgun Gothic"/>
                <a:ea typeface="Malgun Gothic"/>
              </a:rPr>
              <a:t>ETF Alpha · AI ETF Recommendation Subscription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2720" y="6437376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93A2BD"/>
                </a:solidFill>
                <a:latin typeface="Malgun Gothic"/>
                <a:ea typeface="Malgun Gothi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0" cy="82296"/>
          </a:xfrm>
          <a:prstGeom prst="rect">
            <a:avLst/>
          </a:prstGeom>
          <a:solidFill>
            <a:srgbClr val="2AD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2AD0E6"/>
                </a:solidFill>
                <a:latin typeface="Malgun Gothic"/>
                <a:ea typeface="Malgun Gothic"/>
              </a:rPr>
              <a:t>ETF ALPHA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200" b="1" i="0">
                <a:solidFill>
                  <a:srgbClr val="EEF4FF"/>
                </a:solidFill>
                <a:latin typeface="Malgun Gothic"/>
                <a:ea typeface="Malgun Gothic"/>
              </a:rPr>
              <a:t>수익 구조 ① — 구독 + 다각화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48132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93A2BD"/>
                </a:solidFill>
                <a:latin typeface="Malgun Gothic"/>
                <a:ea typeface="Malgun Gothic"/>
              </a:rPr>
              <a:t>주 수익은 월 구독. 같은 추천 데이터를 B2B·제휴로 재판매해 추가 수익화.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2606040" cy="2514600"/>
          </a:xfrm>
          <a:prstGeom prst="roundRect">
            <a:avLst/>
          </a:prstGeom>
          <a:solidFill>
            <a:srgbClr val="111C30"/>
          </a:solidFill>
          <a:ln w="19050">
            <a:solidFill>
              <a:srgbClr val="28D3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2860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1" i="0">
                <a:solidFill>
                  <a:srgbClr val="28D397"/>
                </a:solidFill>
                <a:latin typeface="Malgun Gothic"/>
                <a:ea typeface="Malgun Gothic"/>
              </a:rPr>
              <a:t>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70048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600" b="1" i="0">
                <a:solidFill>
                  <a:srgbClr val="EEF4FF"/>
                </a:solidFill>
                <a:latin typeface="Malgun Gothic"/>
                <a:ea typeface="Malgun Gothic"/>
              </a:rPr>
              <a:t>₩0</a:t>
            </a:r>
            <a:r>
              <a:rPr sz="1200" b="0" i="0">
                <a:solidFill>
                  <a:srgbClr val="93A2BD"/>
                </a:solidFill>
                <a:latin typeface="Malgun Gothic"/>
                <a:ea typeface="Malgun Gothic"/>
              </a:rPr>
              <a:t> /월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429000"/>
            <a:ext cx="2286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 i="0">
                <a:solidFill>
                  <a:srgbClr val="93A2BD"/>
                </a:solidFill>
                <a:latin typeface="Malgun Gothic"/>
                <a:ea typeface="Malgun Gothic"/>
              </a:rPr>
              <a:t>· 추천 상위 2종 공개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 i="0">
                <a:solidFill>
                  <a:srgbClr val="93A2BD"/>
                </a:solidFill>
                <a:latin typeface="Malgun Gothic"/>
                <a:ea typeface="Malgun Gothic"/>
              </a:rPr>
              <a:t>· S_SCORE 요약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 i="0">
                <a:solidFill>
                  <a:srgbClr val="93A2BD"/>
                </a:solidFill>
                <a:latin typeface="Malgun Gothic"/>
                <a:ea typeface="Malgun Gothic"/>
              </a:rPr>
              <a:t>· 전환 유입(퍼널 상단)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103120"/>
            <a:ext cx="2606040" cy="2514600"/>
          </a:xfrm>
          <a:prstGeom prst="roundRect">
            <a:avLst/>
          </a:prstGeom>
          <a:solidFill>
            <a:srgbClr val="111C30"/>
          </a:solidFill>
          <a:ln w="1905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22860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1" i="0">
                <a:solidFill>
                  <a:srgbClr val="5B8CFF"/>
                </a:solidFill>
                <a:latin typeface="Malgun Gothic"/>
                <a:ea typeface="Malgun Gothic"/>
              </a:rPr>
              <a:t>Pro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670048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600" b="1" i="0">
                <a:solidFill>
                  <a:srgbClr val="EEF4FF"/>
                </a:solidFill>
                <a:latin typeface="Malgun Gothic"/>
                <a:ea typeface="Malgun Gothic"/>
              </a:rPr>
              <a:t>₩19,900</a:t>
            </a:r>
            <a:r>
              <a:rPr sz="1200" b="0" i="0">
                <a:solidFill>
                  <a:srgbClr val="93A2BD"/>
                </a:solidFill>
                <a:latin typeface="Malgun Gothic"/>
                <a:ea typeface="Malgun Gothic"/>
              </a:rPr>
              <a:t> /월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3429000"/>
            <a:ext cx="2286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 i="0">
                <a:solidFill>
                  <a:srgbClr val="93A2BD"/>
                </a:solidFill>
                <a:latin typeface="Malgun Gothic"/>
                <a:ea typeface="Malgun Gothic"/>
              </a:rPr>
              <a:t>· 추천 ETF 전체 공개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 i="0">
                <a:solidFill>
                  <a:srgbClr val="93A2BD"/>
                </a:solidFill>
                <a:latin typeface="Malgun Gothic"/>
                <a:ea typeface="Malgun Gothic"/>
              </a:rPr>
              <a:t>· NAV·수급·AI 근거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 i="0">
                <a:solidFill>
                  <a:srgbClr val="93A2BD"/>
                </a:solidFill>
                <a:latin typeface="Malgun Gothic"/>
                <a:ea typeface="Malgun Gothic"/>
              </a:rPr>
              <a:t>· 비중 + 구성종목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103120"/>
            <a:ext cx="2606040" cy="2514600"/>
          </a:xfrm>
          <a:prstGeom prst="roundRect">
            <a:avLst/>
          </a:prstGeom>
          <a:solidFill>
            <a:srgbClr val="111C30"/>
          </a:solidFill>
          <a:ln w="19050">
            <a:solidFill>
              <a:srgbClr val="9B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22860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1" i="0">
                <a:solidFill>
                  <a:srgbClr val="9B7BFF"/>
                </a:solidFill>
                <a:latin typeface="Malgun Gothic"/>
                <a:ea typeface="Malgun Gothic"/>
              </a:rPr>
              <a:t>Premium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2670048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600" b="1" i="0">
                <a:solidFill>
                  <a:srgbClr val="EEF4FF"/>
                </a:solidFill>
                <a:latin typeface="Malgun Gothic"/>
                <a:ea typeface="Malgun Gothic"/>
              </a:rPr>
              <a:t>₩49,900</a:t>
            </a:r>
            <a:r>
              <a:rPr sz="1200" b="0" i="0">
                <a:solidFill>
                  <a:srgbClr val="93A2BD"/>
                </a:solidFill>
                <a:latin typeface="Malgun Gothic"/>
                <a:ea typeface="Malgun Gothic"/>
              </a:rPr>
              <a:t> /월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3429000"/>
            <a:ext cx="2286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 i="0">
                <a:solidFill>
                  <a:srgbClr val="93A2BD"/>
                </a:solidFill>
                <a:latin typeface="Malgun Gothic"/>
                <a:ea typeface="Malgun Gothic"/>
              </a:rPr>
              <a:t>· 일중 리밸런싱 알림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 i="0">
                <a:solidFill>
                  <a:srgbClr val="93A2BD"/>
                </a:solidFill>
                <a:latin typeface="Malgun Gothic"/>
                <a:ea typeface="Malgun Gothic"/>
              </a:rPr>
              <a:t>· 백테스트 리포트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 i="0">
                <a:solidFill>
                  <a:srgbClr val="93A2BD"/>
                </a:solidFill>
                <a:latin typeface="Malgun Gothic"/>
                <a:ea typeface="Malgun Gothic"/>
              </a:rPr>
              <a:t>· REST API·웹훅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2103120"/>
            <a:ext cx="2651760" cy="2514600"/>
          </a:xfrm>
          <a:prstGeom prst="roundRect">
            <a:avLst/>
          </a:prstGeom>
          <a:solidFill>
            <a:srgbClr val="16223A"/>
          </a:solidFill>
          <a:ln w="19050">
            <a:solidFill>
              <a:srgbClr val="F1B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228600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 i="0">
                <a:solidFill>
                  <a:srgbClr val="F1B340"/>
                </a:solidFill>
                <a:latin typeface="Malgun Gothic"/>
                <a:ea typeface="Malgun Gothic"/>
              </a:rPr>
              <a:t>추가 수익원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743200"/>
            <a:ext cx="23774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 i="0">
                <a:solidFill>
                  <a:srgbClr val="EEF4FF"/>
                </a:solidFill>
                <a:latin typeface="Malgun Gothic"/>
                <a:ea typeface="Malgun Gothic"/>
              </a:rPr>
              <a:t>· B2B API/데이터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93A2BD"/>
                </a:solidFill>
                <a:latin typeface="Malgun Gothic"/>
                <a:ea typeface="Malgun Gothic"/>
              </a:rPr>
              <a:t>  라이선스(자문사·로보)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 i="0">
                <a:solidFill>
                  <a:srgbClr val="EEF4FF"/>
                </a:solidFill>
                <a:latin typeface="Malgun Gothic"/>
                <a:ea typeface="Malgun Gothic"/>
              </a:rPr>
              <a:t>· 증권사 계좌개설 제휴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93A2BD"/>
                </a:solidFill>
                <a:latin typeface="Malgun Gothic"/>
                <a:ea typeface="Malgun Gothic"/>
              </a:rPr>
              <a:t>  (CPA 수수료)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 i="0">
                <a:solidFill>
                  <a:srgbClr val="EEF4FF"/>
                </a:solidFill>
                <a:latin typeface="Malgun Gothic"/>
                <a:ea typeface="Malgun Gothic"/>
              </a:rPr>
              <a:t>· ETF 운용사 스폰서십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 i="0">
                <a:solidFill>
                  <a:srgbClr val="EEF4FF"/>
                </a:solidFill>
                <a:latin typeface="Malgun Gothic"/>
                <a:ea typeface="Malgun Gothic"/>
              </a:rPr>
              <a:t>· 프리미엄 리포트 판매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93776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 i="0">
                <a:solidFill>
                  <a:srgbClr val="2AD0E6"/>
                </a:solidFill>
                <a:latin typeface="Malgun Gothic"/>
                <a:ea typeface="Malgun Gothic"/>
              </a:rPr>
              <a:t>핵심 구조: </a:t>
            </a:r>
            <a:r>
              <a:rPr sz="1400" b="1" i="0">
                <a:solidFill>
                  <a:srgbClr val="EEF4FF"/>
                </a:solidFill>
                <a:latin typeface="Malgun Gothic"/>
                <a:ea typeface="Malgun Gothic"/>
              </a:rPr>
              <a:t>추천은 1회 생산 → 무제한 복제. 구독(B2C)·API(B2B)·제휴(CPA) 세 갈래로 '같은 산출물'을 반복 수익화한다.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6437376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93A2BD"/>
                </a:solidFill>
                <a:latin typeface="Malgun Gothic"/>
                <a:ea typeface="Malgun Gothic"/>
              </a:rPr>
              <a:t>ETF Alpha · AI ETF Recommendation Subscription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437376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93A2BD"/>
                </a:solidFill>
                <a:latin typeface="Malgun Gothic"/>
                <a:ea typeface="Malgun Gothic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0" cy="82296"/>
          </a:xfrm>
          <a:prstGeom prst="rect">
            <a:avLst/>
          </a:prstGeom>
          <a:solidFill>
            <a:srgbClr val="2AD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2AD0E6"/>
                </a:solidFill>
                <a:latin typeface="Malgun Gothic"/>
                <a:ea typeface="Malgun Gothic"/>
              </a:rPr>
              <a:t>ETF ALPHA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200" b="1" i="0">
                <a:solidFill>
                  <a:srgbClr val="EEF4FF"/>
                </a:solidFill>
                <a:latin typeface="Malgun Gothic"/>
                <a:ea typeface="Malgun Gothic"/>
              </a:rPr>
              <a:t>수익 구조 ② — 유닛 이코노믹스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48132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93A2BD"/>
                </a:solidFill>
                <a:latin typeface="Malgun Gothic"/>
                <a:ea typeface="Malgun Gothic"/>
              </a:rPr>
              <a:t>추천 1회 연산 비용은 구독자 수와 무관. 그래서 그로스 마진이 매우 높다.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394960" cy="3108960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3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2860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 i="0">
                <a:solidFill>
                  <a:srgbClr val="FF6B73"/>
                </a:solidFill>
                <a:latin typeface="Malgun Gothic"/>
                <a:ea typeface="Malgun Gothic"/>
              </a:rPr>
              <a:t>월 고정비 (구독자 수 무관)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3840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93A2BD"/>
                </a:solidFill>
                <a:latin typeface="Malgun Gothic"/>
                <a:ea typeface="Malgun Gothic"/>
              </a:rPr>
              <a:t>LLM API (QWEN 60콜×30일 + Gemini)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743200"/>
            <a:ext cx="1188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EEF4FF"/>
                </a:solidFill>
                <a:latin typeface="Malgun Gothic"/>
                <a:ea typeface="Malgun Gothic"/>
              </a:rPr>
              <a:t>≈ ₩1~3만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00400"/>
            <a:ext cx="3840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93A2BD"/>
                </a:solidFill>
                <a:latin typeface="Malgun Gothic"/>
                <a:ea typeface="Malgun Gothic"/>
              </a:rPr>
              <a:t>서버 VPS / 호스팅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200400"/>
            <a:ext cx="1188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EEF4FF"/>
                </a:solidFill>
                <a:latin typeface="Malgun Gothic"/>
                <a:ea typeface="Malgun Gothic"/>
              </a:rPr>
              <a:t>≈ ₩2~5만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57600"/>
            <a:ext cx="3840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93A2BD"/>
                </a:solidFill>
                <a:latin typeface="Malgun Gothic"/>
                <a:ea typeface="Malgun Gothic"/>
              </a:rPr>
              <a:t>KIS API · 뉴스 크롤링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657600"/>
            <a:ext cx="1188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EEF4FF"/>
                </a:solidFill>
                <a:latin typeface="Malgun Gothic"/>
                <a:ea typeface="Malgun Gothic"/>
              </a:rPr>
              <a:t>₩0 (무료)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14800"/>
            <a:ext cx="3840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93A2BD"/>
                </a:solidFill>
                <a:latin typeface="Malgun Gothic"/>
                <a:ea typeface="Malgun Gothic"/>
              </a:rPr>
              <a:t>도메인·기타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114800"/>
            <a:ext cx="1188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200" b="1" i="0">
                <a:solidFill>
                  <a:srgbClr val="EEF4FF"/>
                </a:solidFill>
                <a:latin typeface="Malgun Gothic"/>
                <a:ea typeface="Malgun Gothic"/>
              </a:rPr>
              <a:t>≈ ₩1만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617720"/>
            <a:ext cx="4937760" cy="45720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F1B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17720"/>
            <a:ext cx="3200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EEF4FF"/>
                </a:solidFill>
                <a:latin typeface="Malgun Gothic"/>
                <a:ea typeface="Malgun Gothic"/>
              </a:rPr>
              <a:t>총 고정비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61772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500" b="1" i="0">
                <a:solidFill>
                  <a:srgbClr val="F1B340"/>
                </a:solidFill>
                <a:latin typeface="Malgun Gothic"/>
                <a:ea typeface="Malgun Gothic"/>
              </a:rPr>
              <a:t>월 ₩10만 이하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103120"/>
            <a:ext cx="5394960" cy="3108960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8D3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8" y="22860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 i="0">
                <a:solidFill>
                  <a:srgbClr val="28D397"/>
                </a:solidFill>
                <a:latin typeface="Malgun Gothic"/>
                <a:ea typeface="Malgun Gothic"/>
              </a:rPr>
              <a:t>수익성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74320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93A2BD"/>
                </a:solidFill>
                <a:latin typeface="Malgun Gothic"/>
                <a:ea typeface="Malgun Gothic"/>
              </a:rPr>
              <a:t>구독 1명 추가 한계비용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274320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EEF4FF"/>
                </a:solidFill>
                <a:latin typeface="Malgun Gothic"/>
                <a:ea typeface="Malgun Gothic"/>
              </a:rPr>
              <a:t>≈ ₩0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145536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93A2BD"/>
                </a:solidFill>
                <a:latin typeface="Malgun Gothic"/>
                <a:ea typeface="Malgun Gothic"/>
              </a:rPr>
              <a:t>그로스 마진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3145536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EEF4FF"/>
                </a:solidFill>
                <a:latin typeface="Malgun Gothic"/>
                <a:ea typeface="Malgun Gothic"/>
              </a:rPr>
              <a:t>95%+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547872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93A2BD"/>
                </a:solidFill>
                <a:latin typeface="Malgun Gothic"/>
                <a:ea typeface="Malgun Gothic"/>
              </a:rPr>
              <a:t>손익분기 (BEP)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3547872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EEF4FF"/>
                </a:solidFill>
                <a:latin typeface="Malgun Gothic"/>
                <a:ea typeface="Malgun Gothic"/>
              </a:rPr>
              <a:t>Pro 약 5명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950208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93A2BD"/>
                </a:solidFill>
                <a:latin typeface="Malgun Gothic"/>
                <a:ea typeface="Malgun Gothic"/>
              </a:rPr>
              <a:t>Pro LTV (12개월·마진반영)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3950208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EEF4FF"/>
                </a:solidFill>
                <a:latin typeface="Malgun Gothic"/>
                <a:ea typeface="Malgun Gothic"/>
              </a:rPr>
              <a:t>≈ ₩227,000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352544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93A2BD"/>
                </a:solidFill>
                <a:latin typeface="Malgun Gothic"/>
                <a:ea typeface="Malgun Gothic"/>
              </a:rPr>
              <a:t>목표 CAC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4352544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EEF4FF"/>
                </a:solidFill>
                <a:latin typeface="Malgun Gothic"/>
                <a:ea typeface="Malgun Gothic"/>
              </a:rPr>
              <a:t>≤ ₩30,000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75488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93A2BD"/>
                </a:solidFill>
                <a:latin typeface="Malgun Gothic"/>
                <a:ea typeface="Malgun Gothic"/>
              </a:rPr>
              <a:t>LTV / CAC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475488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EEF4FF"/>
                </a:solidFill>
                <a:latin typeface="Malgun Gothic"/>
                <a:ea typeface="Malgun Gothic"/>
              </a:rPr>
              <a:t>≈ 7.5x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53212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2AD0E6"/>
                </a:solidFill>
                <a:latin typeface="Malgun Gothic"/>
                <a:ea typeface="Malgun Gothic"/>
              </a:rPr>
              <a:t>한 줄 요약: </a:t>
            </a:r>
            <a:r>
              <a:rPr sz="1400" b="1" i="0">
                <a:solidFill>
                  <a:srgbClr val="EEF4FF"/>
                </a:solidFill>
                <a:latin typeface="Malgun Gothic"/>
                <a:ea typeface="Malgun Gothic"/>
              </a:rPr>
              <a:t>Pro 5명이면 흑자, 그 이후 매출은 거의 그대로 이익으로 쌓인다 (한계비용 0 구조).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0533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93A2BD"/>
                </a:solidFill>
                <a:latin typeface="Malgun Gothic"/>
                <a:ea typeface="Malgun Gothic"/>
              </a:rPr>
              <a:t>* 수치는 가정에 기반한 추정치이며 실제와 다를 수 있음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" y="6437376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93A2BD"/>
                </a:solidFill>
                <a:latin typeface="Malgun Gothic"/>
                <a:ea typeface="Malgun Gothic"/>
              </a:rPr>
              <a:t>ETF Alpha · AI ETF Recommendation Subscription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20" y="6437376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93A2BD"/>
                </a:solidFill>
                <a:latin typeface="Malgun Gothic"/>
                <a:ea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0" cy="82296"/>
          </a:xfrm>
          <a:prstGeom prst="rect">
            <a:avLst/>
          </a:prstGeom>
          <a:solidFill>
            <a:srgbClr val="2AD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2AD0E6"/>
                </a:solidFill>
                <a:latin typeface="Malgun Gothic"/>
                <a:ea typeface="Malgun Gothic"/>
              </a:rPr>
              <a:t>ETF ALPHA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200" b="1" i="0">
                <a:solidFill>
                  <a:srgbClr val="EEF4FF"/>
                </a:solidFill>
                <a:latin typeface="Malgun Gothic"/>
                <a:ea typeface="Malgun Gothic"/>
              </a:rPr>
              <a:t>수익 구조 ③ — 성장 시나리오 (예시)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48132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93A2BD"/>
                </a:solidFill>
                <a:latin typeface="Malgun Gothic"/>
                <a:ea typeface="Malgun Gothic"/>
              </a:rPr>
              <a:t>전환율 3~5%, 월 이탈 5% 가정. B2B 계약은 12개월 차부터 반영.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2103120" cy="54864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2103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5B8CFF"/>
                </a:solidFill>
                <a:latin typeface="Malgun Gothic"/>
                <a:ea typeface="Malgun Gothic"/>
              </a:rPr>
              <a:t>시점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148840"/>
            <a:ext cx="2286000" cy="54864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2148840"/>
            <a:ext cx="2286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5B8CFF"/>
                </a:solidFill>
                <a:latin typeface="Malgun Gothic"/>
                <a:ea typeface="Malgun Gothic"/>
              </a:rPr>
              <a:t>유료 구독자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2148840"/>
            <a:ext cx="2286000" cy="54864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148840"/>
            <a:ext cx="2286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5B8CFF"/>
                </a:solidFill>
                <a:latin typeface="Malgun Gothic"/>
                <a:ea typeface="Malgun Gothic"/>
              </a:rPr>
              <a:t>구독 MRR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2148840"/>
            <a:ext cx="1920240" cy="54864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2148840"/>
            <a:ext cx="1920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5B8CFF"/>
                </a:solidFill>
                <a:latin typeface="Malgun Gothic"/>
                <a:ea typeface="Malgun Gothic"/>
              </a:rPr>
              <a:t>B2B/제휴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0" y="2148840"/>
            <a:ext cx="2148840" cy="548640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2148840"/>
            <a:ext cx="2148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50" b="1" i="0">
                <a:solidFill>
                  <a:srgbClr val="5B8CFF"/>
                </a:solidFill>
                <a:latin typeface="Malgun Gothic"/>
                <a:ea typeface="Malgun Gothic"/>
              </a:rPr>
              <a:t>월 매출(MRR)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761488"/>
            <a:ext cx="2103120" cy="621792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3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761488"/>
            <a:ext cx="210312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EEF4FF"/>
                </a:solidFill>
                <a:latin typeface="Malgun Gothic"/>
                <a:ea typeface="Malgun Gothic"/>
              </a:rPr>
              <a:t>3개월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2761488"/>
            <a:ext cx="2286000" cy="621792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3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2761488"/>
            <a:ext cx="228600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EEF4FF"/>
                </a:solidFill>
                <a:latin typeface="Malgun Gothic"/>
                <a:ea typeface="Malgun Gothic"/>
              </a:rPr>
              <a:t>50명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2761488"/>
            <a:ext cx="2286000" cy="621792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3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0" y="2761488"/>
            <a:ext cx="228600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EEF4FF"/>
                </a:solidFill>
                <a:latin typeface="Malgun Gothic"/>
                <a:ea typeface="Malgun Gothic"/>
              </a:rPr>
              <a:t>₩1.2M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2761488"/>
            <a:ext cx="1920240" cy="621792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3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2761488"/>
            <a:ext cx="19202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EEF4FF"/>
                </a:solidFill>
                <a:latin typeface="Malgun Gothic"/>
                <a:ea typeface="Malgun Gothic"/>
              </a:rPr>
              <a:t>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60" y="2761488"/>
            <a:ext cx="2148840" cy="621792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3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0" y="2761488"/>
            <a:ext cx="21488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28D397"/>
                </a:solidFill>
                <a:latin typeface="Malgun Gothic"/>
                <a:ea typeface="Malgun Gothic"/>
              </a:rPr>
              <a:t>₩1.2M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474720"/>
            <a:ext cx="2103120" cy="621792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3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474720"/>
            <a:ext cx="210312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EEF4FF"/>
                </a:solidFill>
                <a:latin typeface="Malgun Gothic"/>
                <a:ea typeface="Malgun Gothic"/>
              </a:rPr>
              <a:t>6개월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0" y="3474720"/>
            <a:ext cx="2286000" cy="621792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3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0" y="3474720"/>
            <a:ext cx="228600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EEF4FF"/>
                </a:solidFill>
                <a:latin typeface="Malgun Gothic"/>
                <a:ea typeface="Malgun Gothic"/>
              </a:rPr>
              <a:t>200명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20640" y="3474720"/>
            <a:ext cx="2286000" cy="621792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3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0" y="3474720"/>
            <a:ext cx="228600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EEF4FF"/>
                </a:solidFill>
                <a:latin typeface="Malgun Gothic"/>
                <a:ea typeface="Malgun Gothic"/>
              </a:rPr>
              <a:t>₩4.8M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79" y="3474720"/>
            <a:ext cx="1920240" cy="621792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3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79" y="3474720"/>
            <a:ext cx="19202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EEF4FF"/>
                </a:solidFill>
                <a:latin typeface="Malgun Gothic"/>
                <a:ea typeface="Malgun Gothic"/>
              </a:rPr>
              <a:t>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09760" y="3474720"/>
            <a:ext cx="2148840" cy="621792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3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0" y="3474720"/>
            <a:ext cx="21488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28D397"/>
                </a:solidFill>
                <a:latin typeface="Malgun Gothic"/>
                <a:ea typeface="Malgun Gothic"/>
              </a:rPr>
              <a:t>₩4.8M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187952"/>
            <a:ext cx="2103120" cy="621792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3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187952"/>
            <a:ext cx="210312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EEF4FF"/>
                </a:solidFill>
                <a:latin typeface="Malgun Gothic"/>
                <a:ea typeface="Malgun Gothic"/>
              </a:rPr>
              <a:t>12개월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0" y="4187952"/>
            <a:ext cx="2286000" cy="621792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3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0" y="4187952"/>
            <a:ext cx="228600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EEF4FF"/>
                </a:solidFill>
                <a:latin typeface="Malgun Gothic"/>
                <a:ea typeface="Malgun Gothic"/>
              </a:rPr>
              <a:t>800명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20640" y="4187952"/>
            <a:ext cx="2286000" cy="621792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3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20640" y="4187952"/>
            <a:ext cx="228600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EEF4FF"/>
                </a:solidFill>
                <a:latin typeface="Malgun Gothic"/>
                <a:ea typeface="Malgun Gothic"/>
              </a:rPr>
              <a:t>₩19M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98079" y="4187952"/>
            <a:ext cx="1920240" cy="621792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3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79" y="4187952"/>
            <a:ext cx="19202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EEF4FF"/>
                </a:solidFill>
                <a:latin typeface="Malgun Gothic"/>
                <a:ea typeface="Malgun Gothic"/>
              </a:rPr>
              <a:t>2건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09760" y="4187952"/>
            <a:ext cx="2148840" cy="621792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3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760" y="4187952"/>
            <a:ext cx="21488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28D397"/>
                </a:solidFill>
                <a:latin typeface="Malgun Gothic"/>
                <a:ea typeface="Malgun Gothic"/>
              </a:rPr>
              <a:t>₩24M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4901184"/>
            <a:ext cx="2103120" cy="621792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3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4901184"/>
            <a:ext cx="210312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EEF4FF"/>
                </a:solidFill>
                <a:latin typeface="Malgun Gothic"/>
                <a:ea typeface="Malgun Gothic"/>
              </a:rPr>
              <a:t>24개월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43200" y="4901184"/>
            <a:ext cx="2286000" cy="621792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3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0" y="4901184"/>
            <a:ext cx="228600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EEF4FF"/>
                </a:solidFill>
                <a:latin typeface="Malgun Gothic"/>
                <a:ea typeface="Malgun Gothic"/>
              </a:rPr>
              <a:t>3,000명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120640" y="4901184"/>
            <a:ext cx="2286000" cy="621792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3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20640" y="4901184"/>
            <a:ext cx="228600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EEF4FF"/>
                </a:solidFill>
                <a:latin typeface="Malgun Gothic"/>
                <a:ea typeface="Malgun Gothic"/>
              </a:rPr>
              <a:t>₩70M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98079" y="4901184"/>
            <a:ext cx="1920240" cy="621792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3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98079" y="4901184"/>
            <a:ext cx="19202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EEF4FF"/>
                </a:solidFill>
                <a:latin typeface="Malgun Gothic"/>
                <a:ea typeface="Malgun Gothic"/>
              </a:rPr>
              <a:t>5건+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509760" y="4901184"/>
            <a:ext cx="2148840" cy="621792"/>
          </a:xfrm>
          <a:prstGeom prst="roundRect">
            <a:avLst/>
          </a:prstGeom>
          <a:solidFill>
            <a:srgbClr val="111C30"/>
          </a:solidFill>
          <a:ln w="12700">
            <a:solidFill>
              <a:srgbClr val="23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09760" y="4901184"/>
            <a:ext cx="21488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28D397"/>
                </a:solidFill>
                <a:latin typeface="Malgun Gothic"/>
                <a:ea typeface="Malgun Gothic"/>
              </a:rPr>
              <a:t>₩90M+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580644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50" b="1" i="0">
                <a:solidFill>
                  <a:srgbClr val="EEF4FF"/>
                </a:solidFill>
                <a:latin typeface="Malgun Gothic"/>
                <a:ea typeface="Malgun Gothic"/>
              </a:rPr>
              <a:t>24개월 차 추정 MRR ₩90M+ → 연 환산 ARR 약 ₩10억, 고정비 구조상 대부분이 영업이익으로 전환.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0" i="0">
                <a:solidFill>
                  <a:srgbClr val="93A2BD"/>
                </a:solidFill>
                <a:latin typeface="Malgun Gothic"/>
                <a:ea typeface="Malgun Gothic"/>
              </a:rPr>
              <a:t>* 시나리오는 설명용 예시이며 보장된 수치가 아님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5488" y="6437376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93A2BD"/>
                </a:solidFill>
                <a:latin typeface="Malgun Gothic"/>
                <a:ea typeface="Malgun Gothic"/>
              </a:rPr>
              <a:t>ETF Alpha · AI ETF Recommendation Subscription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32720" y="6437376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93A2BD"/>
                </a:solidFill>
                <a:latin typeface="Malgun Gothic"/>
                <a:ea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66928"/>
            <a:ext cx="822960" cy="82296"/>
          </a:xfrm>
          <a:prstGeom prst="rect">
            <a:avLst/>
          </a:prstGeom>
          <a:solidFill>
            <a:srgbClr val="2AD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2AD0E6"/>
                </a:solidFill>
                <a:latin typeface="Malgun Gothic"/>
                <a:ea typeface="Malgun Gothic"/>
              </a:rPr>
              <a:t>ETF ALPHA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132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200" b="1" i="0">
                <a:solidFill>
                  <a:srgbClr val="EEF4FF"/>
                </a:solidFill>
                <a:latin typeface="Malgun Gothic"/>
                <a:ea typeface="Malgun Gothic"/>
              </a:rPr>
              <a:t>Go-to-Market &amp;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48132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93A2BD"/>
                </a:solidFill>
                <a:latin typeface="Malgun Gothic"/>
                <a:ea typeface="Malgun Gothic"/>
              </a:rPr>
              <a:t>무료 추천으로 신뢰를 쌓고, 데이터로 B2B까지 확장한다.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520440" cy="3017520"/>
          </a:xfrm>
          <a:prstGeom prst="roundRect">
            <a:avLst/>
          </a:prstGeom>
          <a:solidFill>
            <a:srgbClr val="111C30"/>
          </a:solidFill>
          <a:ln w="1905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3520440" cy="640080"/>
          </a:xfrm>
          <a:prstGeom prst="roundRect">
            <a:avLst/>
          </a:prstGeom>
          <a:solidFill>
            <a:srgbClr val="16223A"/>
          </a:solidFill>
          <a:ln w="19050">
            <a:solidFill>
              <a:srgbClr val="5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3520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500" b="1" i="0">
                <a:solidFill>
                  <a:srgbClr val="5B8CFF"/>
                </a:solidFill>
                <a:latin typeface="Malgun Gothic"/>
                <a:ea typeface="Malgun Gothic"/>
              </a:rPr>
              <a:t>Phase 1 · 출시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31089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 b="0" i="0">
                <a:solidFill>
                  <a:srgbClr val="EEF4FF"/>
                </a:solidFill>
                <a:latin typeface="Malgun Gothic"/>
                <a:ea typeface="Malgun Gothic"/>
              </a:rPr>
              <a:t>✓ 웹 구독 서비스 런칭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 b="0" i="0">
                <a:solidFill>
                  <a:srgbClr val="EEF4FF"/>
                </a:solidFill>
                <a:latin typeface="Malgun Gothic"/>
                <a:ea typeface="Malgun Gothic"/>
              </a:rPr>
              <a:t>✓ 무료 추천으로 트래픽 확보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 b="0" i="0">
                <a:solidFill>
                  <a:srgbClr val="EEF4FF"/>
                </a:solidFill>
                <a:latin typeface="Malgun Gothic"/>
                <a:ea typeface="Malgun Gothic"/>
              </a:rPr>
              <a:t>✓ 커뮤니티·콘텐츠 마케팅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2194560"/>
            <a:ext cx="3520440" cy="3017520"/>
          </a:xfrm>
          <a:prstGeom prst="roundRect">
            <a:avLst/>
          </a:prstGeom>
          <a:solidFill>
            <a:srgbClr val="111C30"/>
          </a:solidFill>
          <a:ln w="19050">
            <a:solidFill>
              <a:srgbClr val="2AD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79" y="2194560"/>
            <a:ext cx="3520440" cy="640080"/>
          </a:xfrm>
          <a:prstGeom prst="roundRect">
            <a:avLst/>
          </a:prstGeom>
          <a:solidFill>
            <a:srgbClr val="16223A"/>
          </a:solidFill>
          <a:ln w="19050">
            <a:solidFill>
              <a:srgbClr val="2AD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79" y="2194560"/>
            <a:ext cx="3520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500" b="1" i="0">
                <a:solidFill>
                  <a:srgbClr val="2AD0E6"/>
                </a:solidFill>
                <a:latin typeface="Malgun Gothic"/>
                <a:ea typeface="Malgun Gothic"/>
              </a:rPr>
              <a:t>Phase 2 · 전환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3017520"/>
            <a:ext cx="31089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 b="0" i="0">
                <a:solidFill>
                  <a:srgbClr val="EEF4FF"/>
                </a:solidFill>
                <a:latin typeface="Malgun Gothic"/>
                <a:ea typeface="Malgun Gothic"/>
              </a:rPr>
              <a:t>✓ Pro/Premium 전환 최적화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 b="0" i="0">
                <a:solidFill>
                  <a:srgbClr val="EEF4FF"/>
                </a:solidFill>
                <a:latin typeface="Malgun Gothic"/>
                <a:ea typeface="Malgun Gothic"/>
              </a:rPr>
              <a:t>✓ 리밸런싱 알림(앱·카톡)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 b="0" i="0">
                <a:solidFill>
                  <a:srgbClr val="EEF4FF"/>
                </a:solidFill>
                <a:latin typeface="Malgun Gothic"/>
                <a:ea typeface="Malgun Gothic"/>
              </a:rPr>
              <a:t>✓ 증권사 계좌개설 제휴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8" y="2194560"/>
            <a:ext cx="3520440" cy="3017520"/>
          </a:xfrm>
          <a:prstGeom prst="roundRect">
            <a:avLst/>
          </a:prstGeom>
          <a:solidFill>
            <a:srgbClr val="111C30"/>
          </a:solidFill>
          <a:ln w="19050">
            <a:solidFill>
              <a:srgbClr val="9B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18" y="2194560"/>
            <a:ext cx="3520440" cy="640080"/>
          </a:xfrm>
          <a:prstGeom prst="roundRect">
            <a:avLst/>
          </a:prstGeom>
          <a:solidFill>
            <a:srgbClr val="16223A"/>
          </a:solidFill>
          <a:ln w="19050">
            <a:solidFill>
              <a:srgbClr val="9B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8" y="2194560"/>
            <a:ext cx="3520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500" b="1" i="0">
                <a:solidFill>
                  <a:srgbClr val="9B7BFF"/>
                </a:solidFill>
                <a:latin typeface="Malgun Gothic"/>
                <a:ea typeface="Malgun Gothic"/>
              </a:rPr>
              <a:t>Phase 3 · 확장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8" y="3017520"/>
            <a:ext cx="31089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 b="0" i="0">
                <a:solidFill>
                  <a:srgbClr val="EEF4FF"/>
                </a:solidFill>
                <a:latin typeface="Malgun Gothic"/>
                <a:ea typeface="Malgun Gothic"/>
              </a:rPr>
              <a:t>✓ B2B API·데이터 라이선스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 b="0" i="0">
                <a:solidFill>
                  <a:srgbClr val="EEF4FF"/>
                </a:solidFill>
                <a:latin typeface="Malgun Gothic"/>
                <a:ea typeface="Malgun Gothic"/>
              </a:rPr>
              <a:t>✓ 백테스트·자문 리포트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 b="0" i="0">
                <a:solidFill>
                  <a:srgbClr val="EEF4FF"/>
                </a:solidFill>
                <a:latin typeface="Malgun Gothic"/>
                <a:ea typeface="Malgun Gothic"/>
              </a:rPr>
              <a:t>✓ 해외 ETF·연금 확장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6437376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93A2BD"/>
                </a:solidFill>
                <a:latin typeface="Malgun Gothic"/>
                <a:ea typeface="Malgun Gothic"/>
              </a:rPr>
              <a:t>ETF Alpha · AI ETF Recommendation Subscription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437376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93A2BD"/>
                </a:solidFill>
                <a:latin typeface="Malgun Gothic"/>
                <a:ea typeface="Malgun 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828800"/>
            <a:ext cx="457200" cy="457200"/>
          </a:xfrm>
          <a:prstGeom prst="roundRect">
            <a:avLst/>
          </a:prstGeom>
          <a:solidFill>
            <a:srgbClr val="5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60704" y="1828800"/>
            <a:ext cx="457200" cy="457200"/>
          </a:xfrm>
          <a:prstGeom prst="roundRect">
            <a:avLst/>
          </a:prstGeom>
          <a:solidFill>
            <a:srgbClr val="2AD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4400" b="1" i="0">
                <a:solidFill>
                  <a:srgbClr val="EEF4FF"/>
                </a:solidFill>
                <a:latin typeface="Malgun Gothic"/>
                <a:ea typeface="Malgun Gothic"/>
              </a:rPr>
              <a:t>ETF </a:t>
            </a:r>
            <a:r>
              <a:rPr sz="4400" b="1" i="0">
                <a:solidFill>
                  <a:srgbClr val="2AD0E6"/>
                </a:solidFill>
                <a:latin typeface="Malgun Gothic"/>
                <a:ea typeface="Malgun Gothic"/>
              </a:rPr>
              <a:t>Alpha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474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 i="0">
                <a:solidFill>
                  <a:srgbClr val="EEF4FF"/>
                </a:solidFill>
                <a:latin typeface="Malgun Gothic"/>
                <a:ea typeface="Malgun Gothic"/>
              </a:rPr>
              <a:t>AI가 매일 짜주는 ETF 포트폴리오 — 선택은 쉽게, 신뢰는 깊게.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42062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93A2BD"/>
                </a:solidFill>
                <a:latin typeface="Malgun Gothic"/>
                <a:ea typeface="Malgun Gothic"/>
              </a:rPr>
              <a:t>높은 마진 · 한계비용 0 · 구독+B2B+제휴 3중 수익 구조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" y="4937760"/>
            <a:ext cx="2743200" cy="384048"/>
          </a:xfrm>
          <a:prstGeom prst="roundRect">
            <a:avLst/>
          </a:prstGeom>
          <a:solidFill>
            <a:srgbClr val="16223A"/>
          </a:solidFill>
          <a:ln w="12700">
            <a:solidFill>
              <a:srgbClr val="28D3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4937760"/>
            <a:ext cx="2743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28D397"/>
                </a:solidFill>
                <a:latin typeface="Malgun Gothic"/>
                <a:ea typeface="Malgun Gothic"/>
              </a:rPr>
              <a:t>데모 링크로 바로 체험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56692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93A2BD"/>
                </a:solidFill>
                <a:latin typeface="Malgun Gothic"/>
                <a:ea typeface="Malgun Gothic"/>
              </a:rPr>
              <a:t>데이터: 한국투자증권 Open API · 네이버 금융  |  투자 참고용 정보, 자문·권유 아님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