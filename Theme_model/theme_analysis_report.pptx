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algun Gothic"/>
              </a:rPr>
              <a:t>테마 모멘텀 전략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D4D4D"/>
                </a:solidFill>
                <a:latin typeface="Malgun Gothic"/>
              </a:rPr>
              <a:t>일치율 및 종목 선별 분석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515600" cy="228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분석 목적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기존 GA 최적화 기반 테마 모멘텀 전략의 추가 개선 가능성 탐색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테마 내 종목 일치율(Agreement Rate)이 전략 성과에 미치는 영향 분석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종목 당일 수익률 범위별 익일 성과 패턴 규명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일치율 필터 + 종목 선별 로직을 통합한 전략 구축 및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분석 개요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Malgun Gothic"/>
              </a:rPr>
              <a:t>  분석 기간:  </a:t>
            </a:r>
            <a:r>
              <a:rPr sz="1100" b="0">
                <a:solidFill>
                  <a:srgbClr val="000000"/>
                </a:solidFill>
                <a:latin typeface="Malgun Gothic"/>
              </a:rPr>
              <a:t>2023년 11월 ~ 2026년 2월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Malgun Gothic"/>
              </a:rPr>
              <a:t>  리밸런싱 횟수:  </a:t>
            </a:r>
            <a:r>
              <a:rPr sz="1100" b="0">
                <a:solidFill>
                  <a:srgbClr val="000000"/>
                </a:solidFill>
                <a:latin typeface="Malgun Gothic"/>
              </a:rPr>
              <a:t>545회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Malgun Gothic"/>
              </a:rPr>
              <a:t>  대상 종목 수:  </a:t>
            </a:r>
            <a:r>
              <a:rPr sz="1100" b="0">
                <a:solidFill>
                  <a:srgbClr val="000000"/>
                </a:solidFill>
                <a:latin typeface="Malgun Gothic"/>
              </a:rPr>
              <a:t>약 2,670 종목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Malgun Gothic"/>
              </a:rPr>
              <a:t>  보유 기간:  </a:t>
            </a:r>
            <a:r>
              <a:rPr sz="1100" b="0">
                <a:solidFill>
                  <a:srgbClr val="000000"/>
                </a:solidFill>
                <a:latin typeface="Malgun Gothic"/>
              </a:rPr>
              <a:t>익일 1일 보유 (일간 리밸런싱)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B2A4A"/>
                </a:solidFill>
                <a:latin typeface="Malgun Gothic"/>
              </a:rPr>
              <a:t>  벤치마크:  </a:t>
            </a:r>
            <a:r>
              <a:rPr sz="1100" b="0">
                <a:solidFill>
                  <a:srgbClr val="000000"/>
                </a:solidFill>
                <a:latin typeface="Malgun Gothic"/>
              </a:rPr>
              <a:t>KOSPI, 기존 GA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분석 프레임워크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09160"/>
            <a:ext cx="310896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</a:rPr>
              <a:t>Step 1. 일치율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algun Gothic"/>
              </a:rPr>
              <a:t>•  테마 구성종목 중 양(+) 수익률 비율 산출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•  일치율 범위별 익일 수익률/승률 분석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•  U자형 패턴 발견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4709160"/>
            <a:ext cx="310896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</a:rPr>
              <a:t>Step 2. 종목 수익률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120640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algun Gothic"/>
              </a:rPr>
              <a:t>•  당일 수익률 7개 구간 분류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•  구간별 익일 수익률/승률 분석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•  급락 종목 mean-reversion 효과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709160"/>
            <a:ext cx="310896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</a:rPr>
              <a:t>Step 3. 통합 전략 백테스트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120640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algun Gothic"/>
              </a:rPr>
              <a:t>•  일치율 기준 테마 2개 선정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•  종목 선별 (급락 종목 우선)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•  누적수익률, Sharpe, MDD 등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350" y="52120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B2A4A"/>
                </a:solidFill>
                <a:latin typeface="Malgun Gothic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3790" y="52120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B2A4A"/>
                </a:solidFill>
                <a:latin typeface="Malgun Gothic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6446520"/>
            <a:ext cx="1218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D4D4D"/>
                </a:solidFill>
                <a:latin typeface="Malgun Gothic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Malgun Gothic"/>
              </a:rPr>
              <a:t>일치율(Agreement Rate) 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Malgun Gothic"/>
              </a:rPr>
              <a:t>정의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일치율 = 테마 구성종목 중 당일 수익률이 양(+)인 종목의 비율.  테마 내 종목들이 같은 방향으로 움직이는 정도를 측정한다.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D4D4D"/>
                </a:solidFill>
                <a:latin typeface="Malgun Gothic"/>
              </a:rPr>
              <a:t>일치율이 극단적(매우 낮거나 매우 높은)일 때 익일 테마 수익률이 상대적으로 우수한 "U자형 패턴"이 관찰되었다.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097280"/>
                <a:gridCol w="109728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일치율 범위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평균 수익률(%)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승률(%)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표본 수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평가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0% ~ 30%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+0.196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51.3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1,332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7500A"/>
                          </a:solidFill>
                          <a:latin typeface="Malgun Gothic"/>
                        </a:rPr>
                        <a:t>우수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30% ~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1,948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보통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50% ~ 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+0.061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2,976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보통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70% ~ 100%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+0.234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50.3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3,896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7500A"/>
                          </a:solidFill>
                          <a:latin typeface="Malgun Gothic"/>
                        </a:rPr>
                        <a:t>최우수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56032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핵심 발견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일치율과 익일 수익률은 U자형 관계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0~30% 구간: 평균 +0.196%, 승률 51.3%
  → 소수 종목만 상승 시 반등 기대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70~100% 구간: 평균 +0.234%, 승률 50.3%
  → 강한 모멘텀 지속 효과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중간 구간(30~70%)은 방향성 약화로 수익률 저조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</a:rPr>
              <a:t>전략적 시사점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일치율 0~30% 또는 70~100%에 해당하는 테마를 우선 선정하면, 중간 구간 대비 익일 수익률을 약 3~12배 개선할 수 있다.  이를 테마 선정 1차 필터로 활용한다.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6446520"/>
            <a:ext cx="1218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D4D4D"/>
                </a:solidFill>
                <a:latin typeface="Malgun Gothic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Malgun Gothic"/>
              </a:rPr>
              <a:t>종목 당일 수익률 범위별 익일 성과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algun Gothic"/>
              </a:rPr>
              <a:t>테마에 편입된 종목의 당일 수익률 구간별로 익일(보유일) 평균 수익률과 승률을 분석하였다.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28016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당일 수익률 범위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익일 평균 수익률(%)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승률(%)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특성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~ -3%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+0.43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48.8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500A"/>
                          </a:solidFill>
                          <a:latin typeface="Malgun Gothic"/>
                        </a:rPr>
                        <a:t>Mean-reversion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-3% ~ -1%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46.8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-1% ~ 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0% ~ 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1% ~ 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3% ~ 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/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5% ~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+0.44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43.6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91F1F"/>
                          </a:solidFill>
                          <a:latin typeface="Malgun Gothic"/>
                        </a:rPr>
                        <a:t>Momentum</a:t>
                      </a:r>
                    </a:p>
                  </a:txBody>
                  <a:tcPr anchor="ctr">
                    <a:solidFill>
                      <a:srgbClr val="E8F0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0" y="182880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Malgun Gothic"/>
              </a:rPr>
              <a:t>핵심 발견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Malgun Gothic"/>
              </a:rPr>
              <a:t>  •  급락 종목 (~-3%): 익일 +0.43%로 가장 높은 수익률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      → 강한 mean-reversion 효과. 승률도 48.8%로 최고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Malgun Gothic"/>
              </a:rPr>
              <a:t>  •  급등 종목 (5%~): 익일 +0.44%로 유사한 수준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      → 모멘텀 지속 효과. 다만 승률 43.6%로 상대적 낮음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Malgun Gothic"/>
              </a:rPr>
              <a:t>  •  중간 구간 (-1%~3%): 수익률 +0.05~0.15%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4D4D4D"/>
                </a:solidFill>
                <a:latin typeface="Malgun Gothic"/>
              </a:rPr>
              <a:t>      → 방향성 약하여 전략적 활용도 제한적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Malgun Gothic"/>
              </a:rPr>
              <a:t>종목 선별 전략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일치율 기준으로 선정된 테마 내에서, 당일 -3% 이하 급락 종목을 우선 편입하여 mean-reversion 수익을 극대화한다.  승률과 수익률 모두 우수한 구간이다.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6446520"/>
            <a:ext cx="1218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D4D4D"/>
                </a:solidFill>
                <a:latin typeface="Malgun Gothic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Malgun Gothic"/>
              </a:rPr>
              <a:t>통합 전략 성과 및 실전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515600" cy="182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Malgun Gothic"/>
              </a:rPr>
              <a:t>통합 전략 규칙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일치율 기준으로 상위 2개 테마 선정 (0~30% 또는 70~100%)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선정 테마 내 급락 종목(-3% 이하) 우선 편입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익일 1일 보유 후 전량 매도 (일간 리밸런싱)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기존 GA 최적화 결과에 필터로 추가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Malgun Gothic"/>
              </a:rPr>
              <a:t>성과 비교 (2023.11 ~ 2026.02)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55448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통합 전략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기존 GA 전략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KOSPI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  <a:latin typeface="Malgun Gothic"/>
                        </a:rPr>
                        <a:t>누적수익률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+55.41%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+107.88%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+5.12%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  <a:latin typeface="Malgun Gothic"/>
                        </a:rPr>
                        <a:t>연환산 수익률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+22.61%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+45.53%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+2.20%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  <a:latin typeface="Malgun Gothic"/>
                        </a:rPr>
                        <a:t>Sharpe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1.12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0.15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  <a:latin typeface="Malgun Gothic"/>
                        </a:rPr>
                        <a:t>MDD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-62.54%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-24.31%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-15.78%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  <a:latin typeface="Malgun Gothic"/>
                        </a:rPr>
                        <a:t>승률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46.40%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49.80%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  <a:latin typeface="Malgun Gothic"/>
                        </a:rPr>
                        <a:t>투자 테마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2개 (집중)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30개 (분산)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337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Malgun Gothic"/>
              </a:rPr>
              <a:t>실전 적용 방안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Theme_real/run_real.py에 Step 5, 6 추가 완료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기존 GA 최적화 결과에 일치율 필터 + 종목 선별 로직 통합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최종 2개 테마 + 종목 리스트 자동 산출 기능 구현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Malgun Gothic"/>
              </a:rPr>
              <a:t>  •  일간 리밸런싱 자동화 파이프라인에 연결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79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91F1F"/>
                </a:solidFill>
                <a:latin typeface="Malgun Gothic"/>
              </a:rPr>
              <a:t>한계점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2개 테마 집중 투자로 분산 효과 부족 → MDD -62.54%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기존 GA 전략(30개 분산) 대비 위험 대비 수익률 열위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승률 46.4%로 손실 거래 빈도 높음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2120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500A"/>
                </a:solidFill>
                <a:latin typeface="Malgun Gothic"/>
              </a:rPr>
              <a:t>개선 방향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테마 수 확대 (2개 → 5~10개) 통한 MDD 관리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일치율 필터를 GA 목적함수에 직접 반영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Malgun Gothic"/>
              </a:rPr>
              <a:t>  •  급락 종목 선별 시 거래량/변동성 보조 필터 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94415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6446520"/>
            <a:ext cx="1218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D4D4D"/>
                </a:solidFill>
                <a:latin typeface="Malgun Gothic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